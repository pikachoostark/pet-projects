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06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F9B4E-C845-4605-BC8D-AA6E51A72214}" type="datetimeFigureOut">
              <a:rPr lang="ru-RU" smtClean="0"/>
              <a:t>21.11.2022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8F413B-8AF1-4866-BBFB-1E0375652D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76722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A30C7A-340E-42E2-B947-36E0380F1AC9}" type="datetime1">
              <a:rPr lang="ru-RU" smtClean="0"/>
              <a:t>21.11.2022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0924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6C340-C480-45B1-973B-DEB03A06C01F}" type="datetime1">
              <a:rPr lang="ru-RU" smtClean="0"/>
              <a:t>21.11.2022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1531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D1556-A2C8-484F-8DD8-419FDFFC99D9}" type="datetime1">
              <a:rPr lang="ru-RU" smtClean="0"/>
              <a:t>21.11.2022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12170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C70BF-62A4-460B-8692-E09DEAC7EDE3}" type="datetime1">
              <a:rPr lang="ru-RU" smtClean="0"/>
              <a:t>21.11.2022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0839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358E5-B2D2-422C-87D5-C4A07653B078}" type="datetime1">
              <a:rPr lang="ru-RU" smtClean="0"/>
              <a:t>21.11.2022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2755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8275BE-6E61-440D-ADC6-DE6DF57B4F8E}" type="datetime1">
              <a:rPr lang="ru-RU" smtClean="0"/>
              <a:t>21.11.2022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7291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F1ABC1-9C36-4D88-99F9-9415975C0B7E}" type="datetime1">
              <a:rPr lang="ru-RU" smtClean="0"/>
              <a:t>21.11.2022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5166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8BE8D4-5299-4DF1-BB99-B08D9C0CF4EA}" type="datetime1">
              <a:rPr lang="ru-RU" smtClean="0"/>
              <a:t>21.11.2022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672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C4606-2F38-4D80-B8F6-0C787C6B6C3E}" type="datetime1">
              <a:rPr lang="ru-RU" smtClean="0"/>
              <a:t>21.11.2022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75342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7BD823-70D6-4B00-BC8E-BD40D53EB721}" type="datetime1">
              <a:rPr lang="ru-RU" smtClean="0"/>
              <a:t>21.11.2022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5741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49218-230B-478D-9078-C0F3F05669D3}" type="datetime1">
              <a:rPr lang="ru-RU" smtClean="0"/>
              <a:t>21.11.2022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3217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D0846C-A85C-4161-99D9-7107DC050F6C}" type="datetime1">
              <a:rPr lang="ru-RU" smtClean="0"/>
              <a:t>21.11.2022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40CAB5-4254-4253-A5D5-9A3BE52DBB1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082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1005840"/>
            <a:ext cx="12097110" cy="1593669"/>
          </a:xfrm>
        </p:spPr>
        <p:txBody>
          <a:bodyPr>
            <a:normAutofit/>
          </a:bodyPr>
          <a:lstStyle/>
          <a:p>
            <a: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СОЗДАНИЕ СХЕМ НА МАКЕТНОЙ ПЛАТЕ</a:t>
            </a:r>
            <a:br>
              <a:rPr lang="ru-RU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3200" b="1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1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0" y="2860766"/>
            <a:ext cx="123095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Всем студентам поставить на ноутбуки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Arduino </a:t>
            </a:r>
            <a:r>
              <a:rPr lang="en-US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IDE</a:t>
            </a:r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(скачать из интернет).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2.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Собирать схемы на макетной плате будут только те студенты, которые умеют рисовать схемы на макетной плате.</a:t>
            </a:r>
            <a:b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3.  Те, кто не умеет рисовать схемы будут программировать </a:t>
            </a:r>
            <a:r>
              <a:rPr lang="ru-RU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Ардуино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 без внешних элементов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4081514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МАКЕТНАЯ ПЛАТА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19" y="1549415"/>
            <a:ext cx="4747868" cy="4747868"/>
          </a:xfr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1319842" y="1992702"/>
            <a:ext cx="0" cy="4080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Соединительная линия уступом 7"/>
          <p:cNvCxnSpPr/>
          <p:nvPr/>
        </p:nvCxnSpPr>
        <p:spPr>
          <a:xfrm rot="16200000" flipH="1">
            <a:off x="-560717" y="3976776"/>
            <a:ext cx="4045789" cy="8627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3726611" y="1992702"/>
            <a:ext cx="17253" cy="40199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>
            <a:off x="3890513" y="1992702"/>
            <a:ext cx="17253" cy="39250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1785668" y="2277374"/>
            <a:ext cx="690113" cy="34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2786332" y="2303253"/>
            <a:ext cx="638355" cy="8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1785668" y="2415396"/>
            <a:ext cx="690113" cy="172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2786332" y="2415396"/>
            <a:ext cx="6383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4770409" y="1846053"/>
            <a:ext cx="700464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На макетной плате 2 линии шины питания</a:t>
            </a:r>
          </a:p>
          <a:p>
            <a:r>
              <a:rPr lang="ru-RU" dirty="0" smtClean="0"/>
              <a:t>Линия + это линия +питания (например, +5в)</a:t>
            </a:r>
          </a:p>
          <a:p>
            <a:r>
              <a:rPr lang="ru-RU" dirty="0" smtClean="0"/>
              <a:t>Линия – это линия –питания (Земля)</a:t>
            </a:r>
            <a:endParaRPr lang="en-US" dirty="0" smtClean="0"/>
          </a:p>
          <a:p>
            <a:r>
              <a:rPr lang="ru-RU" dirty="0" smtClean="0"/>
              <a:t>Линии питания между собой не соединены</a:t>
            </a:r>
          </a:p>
          <a:p>
            <a:r>
              <a:rPr lang="ru-RU" dirty="0" smtClean="0"/>
              <a:t>Левые горизонтальные линии с номером соединены друг с другом,</a:t>
            </a:r>
          </a:p>
          <a:p>
            <a:r>
              <a:rPr lang="ru-RU" dirty="0" smtClean="0"/>
              <a:t>Правые горизонтальные линии также соединены друг с другом.</a:t>
            </a:r>
          </a:p>
          <a:p>
            <a:r>
              <a:rPr lang="ru-RU" dirty="0" smtClean="0"/>
              <a:t>Между горизонтальными линиями контактов нет .</a:t>
            </a:r>
          </a:p>
          <a:p>
            <a:r>
              <a:rPr lang="ru-RU" dirty="0" smtClean="0"/>
              <a:t>Каждый контакт имеет номер</a:t>
            </a:r>
            <a:endParaRPr lang="ru-RU" dirty="0"/>
          </a:p>
        </p:txBody>
      </p:sp>
      <p:cxnSp>
        <p:nvCxnSpPr>
          <p:cNvPr id="24" name="Прямая со стрелкой 23"/>
          <p:cNvCxnSpPr/>
          <p:nvPr/>
        </p:nvCxnSpPr>
        <p:spPr>
          <a:xfrm flipH="1" flipV="1">
            <a:off x="2009955" y="2700068"/>
            <a:ext cx="2501660" cy="22342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49638" y="4718649"/>
            <a:ext cx="15182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Контакт 6</a:t>
            </a:r>
            <a:r>
              <a:rPr lang="en-US" dirty="0" smtClean="0"/>
              <a:t>b</a:t>
            </a:r>
            <a:endParaRPr lang="ru-RU" dirty="0"/>
          </a:p>
        </p:txBody>
      </p:sp>
      <p:sp>
        <p:nvSpPr>
          <p:cNvPr id="26" name="Номер слайда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625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140" y="2979698"/>
            <a:ext cx="6635779" cy="4536034"/>
          </a:xfrm>
          <a:prstGeom prst="rect">
            <a:avLst/>
          </a:prstGeom>
        </p:spPr>
      </p:pic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75" y="1233577"/>
            <a:ext cx="2213934" cy="2213934"/>
          </a:xfrm>
          <a:prstGeom prst="rect">
            <a:avLst/>
          </a:prstGeom>
        </p:spPr>
      </p:pic>
      <p:pic>
        <p:nvPicPr>
          <p:cNvPr id="4" name="Рисунок 3" descr="http://ae01.alicdn.com/kf/HTB19k.sXjDuK1Rjy1zjq6zraFXaj.jpg"/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875" y="3925019"/>
            <a:ext cx="3493548" cy="329741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1708030" y="336430"/>
            <a:ext cx="99117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РАЗВОДКА ЭЛЕКТРИЧЕСКОЙ </a:t>
            </a:r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СХЕМЫ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ПРОВОДАМИ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5822830" y="1777042"/>
            <a:ext cx="465827" cy="15527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5426015" y="1854679"/>
            <a:ext cx="2441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Равнобедренный треугольник 9"/>
          <p:cNvSpPr/>
          <p:nvPr/>
        </p:nvSpPr>
        <p:spPr>
          <a:xfrm rot="5400000">
            <a:off x="6750167" y="1738223"/>
            <a:ext cx="319178" cy="232913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 стрелкой 11"/>
          <p:cNvCxnSpPr/>
          <p:nvPr/>
        </p:nvCxnSpPr>
        <p:spPr>
          <a:xfrm flipV="1">
            <a:off x="7026213" y="1518249"/>
            <a:ext cx="194096" cy="1768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5426015" y="1854679"/>
            <a:ext cx="25879" cy="724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5426015" y="2579298"/>
            <a:ext cx="244127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7867291" y="1854679"/>
            <a:ext cx="0" cy="724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единительная линия 23"/>
          <p:cNvCxnSpPr/>
          <p:nvPr/>
        </p:nvCxnSpPr>
        <p:spPr>
          <a:xfrm>
            <a:off x="6793299" y="2432649"/>
            <a:ext cx="0" cy="336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Прямая соединительная линия 27"/>
          <p:cNvCxnSpPr/>
          <p:nvPr/>
        </p:nvCxnSpPr>
        <p:spPr>
          <a:xfrm>
            <a:off x="6663905" y="2475781"/>
            <a:ext cx="0" cy="20853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05583" y="2137637"/>
            <a:ext cx="10869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+</a:t>
            </a:r>
            <a:r>
              <a:rPr lang="ru-RU" dirty="0" smtClean="0"/>
              <a:t>     </a:t>
            </a:r>
            <a:r>
              <a:rPr lang="en-US" dirty="0" smtClean="0"/>
              <a:t>-</a:t>
            </a:r>
            <a:endParaRPr lang="ru-RU" dirty="0"/>
          </a:p>
        </p:txBody>
      </p:sp>
      <p:sp>
        <p:nvSpPr>
          <p:cNvPr id="39" name="TextBox 38"/>
          <p:cNvSpPr txBox="1"/>
          <p:nvPr/>
        </p:nvSpPr>
        <p:spPr>
          <a:xfrm>
            <a:off x="5305245" y="1293962"/>
            <a:ext cx="30541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P1            P2 P2.1                  P3</a:t>
            </a:r>
            <a:endParaRPr lang="ru-RU" dirty="0"/>
          </a:p>
        </p:txBody>
      </p:sp>
      <p:sp>
        <p:nvSpPr>
          <p:cNvPr id="40" name="TextBox 39"/>
          <p:cNvSpPr txBox="1"/>
          <p:nvPr/>
        </p:nvSpPr>
        <p:spPr>
          <a:xfrm>
            <a:off x="4850349" y="2201510"/>
            <a:ext cx="38817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P1.1                                                 P1.2</a:t>
            </a:r>
            <a:endParaRPr lang="ru-RU" dirty="0"/>
          </a:p>
        </p:txBody>
      </p:sp>
      <p:cxnSp>
        <p:nvCxnSpPr>
          <p:cNvPr id="42" name="Прямая со стрелкой 41"/>
          <p:cNvCxnSpPr/>
          <p:nvPr/>
        </p:nvCxnSpPr>
        <p:spPr>
          <a:xfrm>
            <a:off x="5650302" y="2601909"/>
            <a:ext cx="2398144" cy="34538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/>
          <p:nvPr/>
        </p:nvCxnSpPr>
        <p:spPr>
          <a:xfrm>
            <a:off x="7539487" y="2579298"/>
            <a:ext cx="250166" cy="17942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/>
          <p:nvPr/>
        </p:nvCxnSpPr>
        <p:spPr>
          <a:xfrm>
            <a:off x="5426014" y="2063693"/>
            <a:ext cx="3339521" cy="226513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/>
          <p:nvPr/>
        </p:nvCxnSpPr>
        <p:spPr>
          <a:xfrm>
            <a:off x="5570236" y="1865787"/>
            <a:ext cx="3207927" cy="2944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/>
          <p:nvPr/>
        </p:nvCxnSpPr>
        <p:spPr>
          <a:xfrm>
            <a:off x="6564702" y="1854678"/>
            <a:ext cx="2639683" cy="2967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Прямая со стрелкой 52"/>
          <p:cNvCxnSpPr/>
          <p:nvPr/>
        </p:nvCxnSpPr>
        <p:spPr>
          <a:xfrm>
            <a:off x="7445694" y="1854678"/>
            <a:ext cx="1799390" cy="29554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Прямая со стрелкой 54"/>
          <p:cNvCxnSpPr/>
          <p:nvPr/>
        </p:nvCxnSpPr>
        <p:spPr>
          <a:xfrm>
            <a:off x="7865841" y="2041083"/>
            <a:ext cx="1379243" cy="29724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 стрелкой 56"/>
          <p:cNvCxnSpPr/>
          <p:nvPr/>
        </p:nvCxnSpPr>
        <p:spPr>
          <a:xfrm>
            <a:off x="7883446" y="2358524"/>
            <a:ext cx="1331450" cy="36972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Прямая соединительная линия 58"/>
          <p:cNvCxnSpPr/>
          <p:nvPr/>
        </p:nvCxnSpPr>
        <p:spPr>
          <a:xfrm flipH="1">
            <a:off x="7664570" y="4373592"/>
            <a:ext cx="351526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Прямая соединительная линия 60"/>
          <p:cNvCxnSpPr/>
          <p:nvPr/>
        </p:nvCxnSpPr>
        <p:spPr>
          <a:xfrm flipH="1">
            <a:off x="7789653" y="4207133"/>
            <a:ext cx="332117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Прямая соединительная линия 62"/>
          <p:cNvCxnSpPr/>
          <p:nvPr/>
        </p:nvCxnSpPr>
        <p:spPr>
          <a:xfrm>
            <a:off x="7564485" y="4229744"/>
            <a:ext cx="3715434" cy="57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 flipH="1">
            <a:off x="7789653" y="6055743"/>
            <a:ext cx="35885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Прямая соединительная линия 69"/>
          <p:cNvCxnSpPr/>
          <p:nvPr/>
        </p:nvCxnSpPr>
        <p:spPr>
          <a:xfrm flipH="1">
            <a:off x="7664570" y="6133381"/>
            <a:ext cx="3615350" cy="293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Прямая соединительная линия 72"/>
          <p:cNvCxnSpPr/>
          <p:nvPr/>
        </p:nvCxnSpPr>
        <p:spPr>
          <a:xfrm>
            <a:off x="10429335" y="4560316"/>
            <a:ext cx="0" cy="5792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Прямая соединительная линия 76"/>
          <p:cNvCxnSpPr/>
          <p:nvPr/>
        </p:nvCxnSpPr>
        <p:spPr>
          <a:xfrm>
            <a:off x="9583947" y="5339751"/>
            <a:ext cx="0" cy="552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Прямая соединительная линия 79"/>
          <p:cNvCxnSpPr/>
          <p:nvPr/>
        </p:nvCxnSpPr>
        <p:spPr>
          <a:xfrm>
            <a:off x="10532617" y="4560316"/>
            <a:ext cx="8626" cy="4532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Прямая соединительная линия 81"/>
          <p:cNvCxnSpPr/>
          <p:nvPr/>
        </p:nvCxnSpPr>
        <p:spPr>
          <a:xfrm flipH="1">
            <a:off x="9659155" y="5289598"/>
            <a:ext cx="33408" cy="5636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Номер слайда 8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3</a:t>
            </a:fld>
            <a:endParaRPr lang="ru-RU"/>
          </a:p>
        </p:txBody>
      </p:sp>
      <p:cxnSp>
        <p:nvCxnSpPr>
          <p:cNvPr id="85" name="Прямая соединительная линия 84"/>
          <p:cNvCxnSpPr/>
          <p:nvPr/>
        </p:nvCxnSpPr>
        <p:spPr>
          <a:xfrm>
            <a:off x="7026213" y="1695090"/>
            <a:ext cx="0" cy="31917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8359433" y="4695865"/>
            <a:ext cx="447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P1</a:t>
            </a:r>
            <a:endParaRPr lang="ru-RU" dirty="0"/>
          </a:p>
        </p:txBody>
      </p:sp>
      <p:sp>
        <p:nvSpPr>
          <p:cNvPr id="94" name="TextBox 93"/>
          <p:cNvSpPr txBox="1"/>
          <p:nvPr/>
        </p:nvSpPr>
        <p:spPr>
          <a:xfrm>
            <a:off x="8229049" y="4497837"/>
            <a:ext cx="658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P1.1</a:t>
            </a:r>
            <a:endParaRPr lang="ru-RU" dirty="0"/>
          </a:p>
        </p:txBody>
      </p:sp>
      <p:sp>
        <p:nvSpPr>
          <p:cNvPr id="95" name="TextBox 94"/>
          <p:cNvSpPr txBox="1"/>
          <p:nvPr/>
        </p:nvSpPr>
        <p:spPr>
          <a:xfrm>
            <a:off x="8874759" y="4794345"/>
            <a:ext cx="438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P2</a:t>
            </a:r>
            <a:endParaRPr lang="ru-RU" dirty="0"/>
          </a:p>
        </p:txBody>
      </p:sp>
      <p:sp>
        <p:nvSpPr>
          <p:cNvPr id="96" name="TextBox 95"/>
          <p:cNvSpPr txBox="1"/>
          <p:nvPr/>
        </p:nvSpPr>
        <p:spPr>
          <a:xfrm>
            <a:off x="9242128" y="4609679"/>
            <a:ext cx="503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P3</a:t>
            </a:r>
            <a:endParaRPr lang="ru-RU" dirty="0"/>
          </a:p>
        </p:txBody>
      </p:sp>
      <p:sp>
        <p:nvSpPr>
          <p:cNvPr id="97" name="TextBox 96"/>
          <p:cNvSpPr txBox="1"/>
          <p:nvPr/>
        </p:nvSpPr>
        <p:spPr>
          <a:xfrm>
            <a:off x="9235790" y="4872176"/>
            <a:ext cx="8453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P1.2</a:t>
            </a:r>
            <a:endParaRPr lang="ru-RU" dirty="0"/>
          </a:p>
        </p:txBody>
      </p:sp>
      <p:sp>
        <p:nvSpPr>
          <p:cNvPr id="98" name="TextBox 97"/>
          <p:cNvSpPr txBox="1"/>
          <p:nvPr/>
        </p:nvSpPr>
        <p:spPr>
          <a:xfrm>
            <a:off x="6963455" y="5737613"/>
            <a:ext cx="574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Gnd</a:t>
            </a:r>
            <a:endParaRPr lang="ru-RU" dirty="0"/>
          </a:p>
        </p:txBody>
      </p:sp>
      <p:sp>
        <p:nvSpPr>
          <p:cNvPr id="99" name="TextBox 98"/>
          <p:cNvSpPr txBox="1"/>
          <p:nvPr/>
        </p:nvSpPr>
        <p:spPr>
          <a:xfrm>
            <a:off x="5878167" y="2517552"/>
            <a:ext cx="51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3V</a:t>
            </a:r>
            <a:endParaRPr lang="ru-RU" dirty="0"/>
          </a:p>
        </p:txBody>
      </p:sp>
      <p:sp>
        <p:nvSpPr>
          <p:cNvPr id="101" name="TextBox 100"/>
          <p:cNvSpPr txBox="1"/>
          <p:nvPr/>
        </p:nvSpPr>
        <p:spPr>
          <a:xfrm>
            <a:off x="6840436" y="2509530"/>
            <a:ext cx="5747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Gnd</a:t>
            </a:r>
            <a:endParaRPr lang="ru-RU" dirty="0"/>
          </a:p>
        </p:txBody>
      </p:sp>
      <p:sp>
        <p:nvSpPr>
          <p:cNvPr id="102" name="TextBox 101"/>
          <p:cNvSpPr txBox="1"/>
          <p:nvPr/>
        </p:nvSpPr>
        <p:spPr>
          <a:xfrm>
            <a:off x="7135419" y="4225893"/>
            <a:ext cx="517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3V</a:t>
            </a:r>
            <a:endParaRPr lang="ru-RU" dirty="0"/>
          </a:p>
        </p:txBody>
      </p:sp>
      <p:sp>
        <p:nvSpPr>
          <p:cNvPr id="103" name="TextBox 102"/>
          <p:cNvSpPr txBox="1"/>
          <p:nvPr/>
        </p:nvSpPr>
        <p:spPr>
          <a:xfrm>
            <a:off x="8528699" y="1589801"/>
            <a:ext cx="3122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3V – </a:t>
            </a:r>
            <a:r>
              <a:rPr lang="ru-RU" dirty="0" smtClean="0"/>
              <a:t>красная </a:t>
            </a:r>
            <a:r>
              <a:rPr lang="ru-RU" dirty="0" smtClean="0"/>
              <a:t>шина </a:t>
            </a:r>
            <a:r>
              <a:rPr lang="ru-RU" dirty="0" smtClean="0"/>
              <a:t>питания</a:t>
            </a:r>
          </a:p>
          <a:p>
            <a:r>
              <a:rPr lang="en-US" dirty="0" err="1" smtClean="0"/>
              <a:t>Gnd</a:t>
            </a:r>
            <a:r>
              <a:rPr lang="ru-RU" dirty="0" smtClean="0"/>
              <a:t> – </a:t>
            </a:r>
            <a:r>
              <a:rPr lang="ru-RU" dirty="0" smtClean="0"/>
              <a:t>синяя шина </a:t>
            </a:r>
            <a:r>
              <a:rPr lang="ru-RU" dirty="0" smtClean="0"/>
              <a:t>земля</a:t>
            </a:r>
            <a:endParaRPr lang="ru-RU" dirty="0"/>
          </a:p>
        </p:txBody>
      </p:sp>
      <p:sp>
        <p:nvSpPr>
          <p:cNvPr id="104" name="TextBox 103"/>
          <p:cNvSpPr txBox="1"/>
          <p:nvPr/>
        </p:nvSpPr>
        <p:spPr>
          <a:xfrm>
            <a:off x="8688528" y="4438773"/>
            <a:ext cx="6728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P2.1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37868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8072" y="1224702"/>
            <a:ext cx="6426218" cy="5035584"/>
          </a:xfrm>
          <a:prstGeom prst="rect">
            <a:avLst/>
          </a:prstGeom>
        </p:spPr>
      </p:pic>
      <p:pic>
        <p:nvPicPr>
          <p:cNvPr id="2" name="Объект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819" y="1020733"/>
            <a:ext cx="4747868" cy="47478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345057" y="155002"/>
            <a:ext cx="126031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ПРОСТЕЙШАЯ СХЕМА С АРДУИНО. Передача информации по последовательному порту через </a:t>
            </a:r>
            <a:r>
              <a:rPr lang="en-US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USB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110288" y="1993628"/>
            <a:ext cx="1086929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ru-RU" dirty="0" smtClean="0"/>
          </a:p>
          <a:p>
            <a:r>
              <a:rPr lang="ru-RU" dirty="0" err="1" smtClean="0"/>
              <a:t>Ардуино</a:t>
            </a:r>
            <a:r>
              <a:rPr lang="ru-RU" dirty="0" smtClean="0"/>
              <a:t> Нано</a:t>
            </a:r>
          </a:p>
          <a:p>
            <a:r>
              <a:rPr lang="ru-RU" dirty="0" smtClean="0"/>
              <a:t>16 контакт с каждой стороны</a:t>
            </a:r>
          </a:p>
          <a:p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459659" y="4069198"/>
            <a:ext cx="393632" cy="258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V="1">
            <a:off x="2170674" y="4560883"/>
            <a:ext cx="483079" cy="169940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2465103" y="4327991"/>
            <a:ext cx="388188" cy="310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2459659" y="5672842"/>
            <a:ext cx="1069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USB</a:t>
            </a:r>
          </a:p>
          <a:p>
            <a:r>
              <a:rPr lang="ru-RU" dirty="0" smtClean="0"/>
              <a:t>Питание по </a:t>
            </a:r>
            <a:r>
              <a:rPr lang="en-US" dirty="0" smtClean="0"/>
              <a:t>USB</a:t>
            </a:r>
            <a:endParaRPr lang="ru-RU" dirty="0"/>
          </a:p>
        </p:txBody>
      </p:sp>
      <p:sp>
        <p:nvSpPr>
          <p:cNvPr id="28" name="Номер слайда 2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6901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5</a:t>
            </a:fld>
            <a:endParaRPr lang="ru-RU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6614" y="2435140"/>
            <a:ext cx="5434424" cy="4258414"/>
          </a:xfrm>
          <a:prstGeom prst="rect">
            <a:avLst/>
          </a:prstGeom>
        </p:spPr>
      </p:pic>
      <p:pic>
        <p:nvPicPr>
          <p:cNvPr id="6" name="Объект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44799" y="1081118"/>
            <a:ext cx="4747868" cy="47478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85670" y="2054013"/>
            <a:ext cx="1086929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ru-RU" dirty="0" smtClean="0"/>
          </a:p>
          <a:p>
            <a:r>
              <a:rPr lang="ru-RU" dirty="0" err="1" smtClean="0"/>
              <a:t>Ардуино</a:t>
            </a:r>
            <a:r>
              <a:rPr lang="ru-RU" dirty="0" smtClean="0"/>
              <a:t> Нано</a:t>
            </a:r>
          </a:p>
          <a:p>
            <a:r>
              <a:rPr lang="ru-RU" dirty="0" smtClean="0"/>
              <a:t>16 контакт. с каждой стороны</a:t>
            </a:r>
          </a:p>
          <a:p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1735041" y="4129583"/>
            <a:ext cx="393632" cy="258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 flipV="1">
            <a:off x="1446056" y="4621268"/>
            <a:ext cx="483079" cy="169940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1740485" y="4388376"/>
            <a:ext cx="388188" cy="310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1735041" y="5733227"/>
            <a:ext cx="1069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USB</a:t>
            </a:r>
          </a:p>
          <a:p>
            <a:r>
              <a:rPr lang="ru-RU" dirty="0" smtClean="0"/>
              <a:t>Питание по </a:t>
            </a:r>
            <a:r>
              <a:rPr lang="en-US" dirty="0" smtClean="0"/>
              <a:t>USB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159049" y="173688"/>
            <a:ext cx="119121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Реализация электрической схемы чтения кнопки </a:t>
            </a:r>
            <a:r>
              <a:rPr lang="ru-RU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Ардуиной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145208" y="1204948"/>
            <a:ext cx="223424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	</a:t>
            </a:r>
            <a:r>
              <a:rPr lang="en-US" dirty="0" smtClean="0"/>
              <a:t>             GND</a:t>
            </a:r>
          </a:p>
          <a:p>
            <a:pPr algn="r"/>
            <a:r>
              <a:rPr lang="en-US" dirty="0" smtClean="0"/>
              <a:t>                 	</a:t>
            </a:r>
          </a:p>
          <a:p>
            <a:pPr algn="r"/>
            <a:r>
              <a:rPr lang="en-US" dirty="0" smtClean="0"/>
              <a:t>GND                         5V</a:t>
            </a:r>
            <a:endParaRPr lang="ru-RU" dirty="0" smtClean="0"/>
          </a:p>
          <a:p>
            <a:pPr algn="r"/>
            <a:endParaRPr lang="ru-RU" dirty="0"/>
          </a:p>
          <a:p>
            <a:pPr algn="r"/>
            <a:endParaRPr lang="ru-RU" dirty="0" smtClean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r>
              <a:rPr lang="ru-RU" dirty="0" smtClean="0"/>
              <a:t>16</a:t>
            </a:r>
            <a:endParaRPr lang="en-US" dirty="0" smtClean="0"/>
          </a:p>
          <a:p>
            <a:pPr algn="r"/>
            <a:endParaRPr lang="en-US" dirty="0"/>
          </a:p>
          <a:p>
            <a:pPr algn="r"/>
            <a:endParaRPr lang="ru-RU" dirty="0"/>
          </a:p>
        </p:txBody>
      </p:sp>
      <p:cxnSp>
        <p:nvCxnSpPr>
          <p:cNvPr id="14" name="Прямая соединительная линия 13"/>
          <p:cNvCxnSpPr/>
          <p:nvPr/>
        </p:nvCxnSpPr>
        <p:spPr>
          <a:xfrm>
            <a:off x="3886416" y="2438526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6344944" y="1426359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6379450" y="1969824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6379450" y="3902142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6672748" y="1426359"/>
            <a:ext cx="802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7475005" y="1426359"/>
            <a:ext cx="0" cy="14867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7475005" y="2913108"/>
            <a:ext cx="163901" cy="3190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единительная линия 20"/>
          <p:cNvCxnSpPr/>
          <p:nvPr/>
        </p:nvCxnSpPr>
        <p:spPr>
          <a:xfrm>
            <a:off x="7475005" y="3387431"/>
            <a:ext cx="0" cy="5233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>
            <a:off x="6655495" y="3910768"/>
            <a:ext cx="8195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556955" y="2682276"/>
            <a:ext cx="59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Кн1</a:t>
            </a:r>
            <a:endParaRPr lang="ru-RU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>
            <a:off x="2631057" y="2216989"/>
            <a:ext cx="543464" cy="22153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/>
          <p:cNvCxnSpPr/>
          <p:nvPr/>
        </p:nvCxnSpPr>
        <p:spPr>
          <a:xfrm flipH="1">
            <a:off x="2363638" y="3579962"/>
            <a:ext cx="267419" cy="135434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464873" y="5124091"/>
            <a:ext cx="14013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Кнопка</a:t>
            </a:r>
          </a:p>
          <a:p>
            <a:endParaRPr lang="ru-RU" dirty="0"/>
          </a:p>
          <a:p>
            <a:endParaRPr lang="ru-RU" dirty="0" smtClean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35" name="Прямоугольник 34"/>
          <p:cNvSpPr/>
          <p:nvPr/>
        </p:nvSpPr>
        <p:spPr>
          <a:xfrm>
            <a:off x="4789383" y="5828986"/>
            <a:ext cx="567621" cy="60632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7" name="Прямая соединительная линия 36"/>
          <p:cNvCxnSpPr/>
          <p:nvPr/>
        </p:nvCxnSpPr>
        <p:spPr>
          <a:xfrm flipH="1" flipV="1">
            <a:off x="2631057" y="4934309"/>
            <a:ext cx="2449901" cy="89467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 flipH="1" flipV="1">
            <a:off x="3174521" y="5417389"/>
            <a:ext cx="1822976" cy="123916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единительная линия 43"/>
          <p:cNvCxnSpPr/>
          <p:nvPr/>
        </p:nvCxnSpPr>
        <p:spPr>
          <a:xfrm flipV="1">
            <a:off x="5004991" y="6460258"/>
            <a:ext cx="68202" cy="19629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Овал 44"/>
          <p:cNvSpPr/>
          <p:nvPr/>
        </p:nvSpPr>
        <p:spPr>
          <a:xfrm>
            <a:off x="4948541" y="5995760"/>
            <a:ext cx="264833" cy="247011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6526099" y="1081118"/>
            <a:ext cx="539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6j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6424553" y="3604141"/>
            <a:ext cx="6769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16j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7854566" y="1020282"/>
            <a:ext cx="3105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Электрическая схема</a:t>
            </a:r>
            <a:r>
              <a:rPr lang="en-US" dirty="0" smtClean="0"/>
              <a:t> </a:t>
            </a:r>
            <a:r>
              <a:rPr lang="ru-RU" dirty="0" smtClean="0"/>
              <a:t>с обозначением коммутируемых контактов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6967390" y="3576220"/>
            <a:ext cx="6771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26</a:t>
            </a:r>
            <a:r>
              <a:rPr lang="en-US" dirty="0" smtClean="0"/>
              <a:t>h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7034121" y="1081118"/>
            <a:ext cx="66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Gnd</a:t>
            </a:r>
            <a:endParaRPr lang="ru-RU" dirty="0"/>
          </a:p>
        </p:txBody>
      </p:sp>
      <p:cxnSp>
        <p:nvCxnSpPr>
          <p:cNvPr id="60" name="Прямая соединительная линия 59"/>
          <p:cNvCxnSpPr/>
          <p:nvPr/>
        </p:nvCxnSpPr>
        <p:spPr>
          <a:xfrm>
            <a:off x="2631057" y="2447152"/>
            <a:ext cx="405441" cy="23512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526099" y="1630392"/>
            <a:ext cx="508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8j</a:t>
            </a:r>
            <a:endParaRPr lang="ru-RU" dirty="0"/>
          </a:p>
        </p:txBody>
      </p:sp>
      <p:sp>
        <p:nvSpPr>
          <p:cNvPr id="62" name="TextBox 61"/>
          <p:cNvSpPr txBox="1"/>
          <p:nvPr/>
        </p:nvSpPr>
        <p:spPr>
          <a:xfrm>
            <a:off x="7007463" y="3297160"/>
            <a:ext cx="549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26j</a:t>
            </a:r>
            <a:endParaRPr lang="ru-RU" dirty="0"/>
          </a:p>
        </p:txBody>
      </p:sp>
      <p:sp>
        <p:nvSpPr>
          <p:cNvPr id="63" name="TextBox 62"/>
          <p:cNvSpPr txBox="1"/>
          <p:nvPr/>
        </p:nvSpPr>
        <p:spPr>
          <a:xfrm>
            <a:off x="5427231" y="5880291"/>
            <a:ext cx="5952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Кн1</a:t>
            </a:r>
            <a:endParaRPr lang="ru-RU" dirty="0"/>
          </a:p>
        </p:txBody>
      </p:sp>
      <p:sp>
        <p:nvSpPr>
          <p:cNvPr id="64" name="TextBox 63"/>
          <p:cNvSpPr txBox="1"/>
          <p:nvPr/>
        </p:nvSpPr>
        <p:spPr>
          <a:xfrm>
            <a:off x="3213052" y="1652250"/>
            <a:ext cx="66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Gnd</a:t>
            </a:r>
            <a:endParaRPr lang="ru-RU" dirty="0"/>
          </a:p>
        </p:txBody>
      </p:sp>
      <p:sp>
        <p:nvSpPr>
          <p:cNvPr id="66" name="TextBox 65"/>
          <p:cNvSpPr txBox="1"/>
          <p:nvPr/>
        </p:nvSpPr>
        <p:spPr>
          <a:xfrm>
            <a:off x="2832149" y="2911395"/>
            <a:ext cx="66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3823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6</a:t>
            </a:fld>
            <a:endParaRPr lang="ru-RU"/>
          </a:p>
        </p:txBody>
      </p:sp>
      <p:sp>
        <p:nvSpPr>
          <p:cNvPr id="3" name="Номер слайда 1"/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40CAB5-4254-4253-A5D5-9A3BE52DBB1F}" type="slidenum">
              <a:rPr lang="ru-RU" smtClean="0"/>
              <a:pPr/>
              <a:t>6</a:t>
            </a:fld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6052" y="2205771"/>
            <a:ext cx="5460217" cy="4278626"/>
          </a:xfrm>
          <a:prstGeom prst="rect">
            <a:avLst/>
          </a:prstGeom>
        </p:spPr>
      </p:pic>
      <p:pic>
        <p:nvPicPr>
          <p:cNvPr id="5" name="Объект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7328" y="1063865"/>
            <a:ext cx="4747868" cy="474786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13141" y="2036760"/>
            <a:ext cx="1086929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ru-RU" dirty="0" smtClean="0"/>
          </a:p>
          <a:p>
            <a:r>
              <a:rPr lang="ru-RU" dirty="0" err="1" smtClean="0"/>
              <a:t>Ардуино</a:t>
            </a:r>
            <a:r>
              <a:rPr lang="ru-RU" dirty="0" smtClean="0"/>
              <a:t> Нано</a:t>
            </a:r>
          </a:p>
          <a:p>
            <a:r>
              <a:rPr lang="ru-RU" dirty="0" smtClean="0"/>
              <a:t>16 контакт с каждой стороны</a:t>
            </a:r>
          </a:p>
          <a:p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1562512" y="4112330"/>
            <a:ext cx="393632" cy="258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 flipV="1">
            <a:off x="1273527" y="4604015"/>
            <a:ext cx="483079" cy="169940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Прямоугольник 8"/>
          <p:cNvSpPr/>
          <p:nvPr/>
        </p:nvSpPr>
        <p:spPr>
          <a:xfrm>
            <a:off x="1567956" y="4371123"/>
            <a:ext cx="388188" cy="310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TextBox 9"/>
          <p:cNvSpPr txBox="1"/>
          <p:nvPr/>
        </p:nvSpPr>
        <p:spPr>
          <a:xfrm>
            <a:off x="1562512" y="5715974"/>
            <a:ext cx="1069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USB</a:t>
            </a:r>
          </a:p>
          <a:p>
            <a:r>
              <a:rPr lang="ru-RU" dirty="0" smtClean="0"/>
              <a:t>Питание по </a:t>
            </a:r>
            <a:r>
              <a:rPr lang="en-US" dirty="0" smtClean="0"/>
              <a:t>USB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0" y="37703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Реализация электрической схемы</a:t>
            </a:r>
          </a:p>
          <a:p>
            <a:pPr algn="ctr"/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управления светодиодом от </a:t>
            </a:r>
            <a:r>
              <a:rPr lang="ru-RU" sz="2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Ардуино</a:t>
            </a:r>
            <a:r>
              <a:rPr lang="ru-RU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ru-RU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00093" y="1101039"/>
            <a:ext cx="223424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	</a:t>
            </a:r>
            <a:r>
              <a:rPr lang="en-US" dirty="0" smtClean="0"/>
              <a:t>             GND</a:t>
            </a:r>
          </a:p>
          <a:p>
            <a:pPr algn="r"/>
            <a:r>
              <a:rPr lang="en-US" dirty="0" smtClean="0"/>
              <a:t>                 	</a:t>
            </a:r>
          </a:p>
          <a:p>
            <a:pPr algn="r"/>
            <a:r>
              <a:rPr lang="en-US" dirty="0" smtClean="0"/>
              <a:t>GND                         5V</a:t>
            </a:r>
            <a:endParaRPr lang="ru-RU" dirty="0" smtClean="0"/>
          </a:p>
          <a:p>
            <a:pPr algn="r"/>
            <a:endParaRPr lang="ru-RU" dirty="0"/>
          </a:p>
          <a:p>
            <a:pPr algn="r"/>
            <a:endParaRPr lang="ru-RU" dirty="0" smtClean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r>
              <a:rPr lang="ru-RU" dirty="0" smtClean="0"/>
              <a:t>16</a:t>
            </a:r>
            <a:endParaRPr lang="en-US" dirty="0" smtClean="0"/>
          </a:p>
          <a:p>
            <a:pPr algn="r"/>
            <a:endParaRPr lang="en-US" dirty="0"/>
          </a:p>
          <a:p>
            <a:pPr algn="r"/>
            <a:endParaRPr lang="ru-RU" dirty="0"/>
          </a:p>
        </p:txBody>
      </p:sp>
      <p:cxnSp>
        <p:nvCxnSpPr>
          <p:cNvPr id="13" name="Прямая соединительная линия 12"/>
          <p:cNvCxnSpPr/>
          <p:nvPr/>
        </p:nvCxnSpPr>
        <p:spPr>
          <a:xfrm>
            <a:off x="3541301" y="2334617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/>
          <p:nvPr/>
        </p:nvCxnSpPr>
        <p:spPr>
          <a:xfrm>
            <a:off x="5999829" y="1322450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/>
          <p:nvPr/>
        </p:nvCxnSpPr>
        <p:spPr>
          <a:xfrm>
            <a:off x="6034335" y="1865915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>
            <a:off x="6034335" y="3798233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6310380" y="1331076"/>
            <a:ext cx="802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>
            <a:off x="7129890" y="1322450"/>
            <a:ext cx="0" cy="73612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единительная линия 18"/>
          <p:cNvCxnSpPr/>
          <p:nvPr/>
        </p:nvCxnSpPr>
        <p:spPr>
          <a:xfrm>
            <a:off x="7129890" y="2420881"/>
            <a:ext cx="0" cy="138597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/>
          <p:cNvCxnSpPr/>
          <p:nvPr/>
        </p:nvCxnSpPr>
        <p:spPr>
          <a:xfrm>
            <a:off x="6310380" y="3806859"/>
            <a:ext cx="81951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Прямоугольник 20"/>
          <p:cNvSpPr/>
          <p:nvPr/>
        </p:nvSpPr>
        <p:spPr>
          <a:xfrm>
            <a:off x="7026373" y="2671126"/>
            <a:ext cx="207034" cy="73604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Равнобедренный треугольник 21"/>
          <p:cNvSpPr/>
          <p:nvPr/>
        </p:nvSpPr>
        <p:spPr>
          <a:xfrm>
            <a:off x="6948734" y="2058572"/>
            <a:ext cx="362311" cy="362309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3" name="Прямая соединительная линия 22"/>
          <p:cNvCxnSpPr/>
          <p:nvPr/>
        </p:nvCxnSpPr>
        <p:spPr>
          <a:xfrm>
            <a:off x="6983240" y="2058572"/>
            <a:ext cx="2932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/>
          <p:cNvCxnSpPr/>
          <p:nvPr/>
        </p:nvCxnSpPr>
        <p:spPr>
          <a:xfrm flipV="1">
            <a:off x="7405936" y="2058572"/>
            <a:ext cx="189781" cy="181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878284" y="1113430"/>
            <a:ext cx="3105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Электрическая схема</a:t>
            </a:r>
            <a:r>
              <a:rPr lang="en-US" dirty="0" smtClean="0"/>
              <a:t> </a:t>
            </a:r>
            <a:r>
              <a:rPr lang="ru-RU" dirty="0" smtClean="0"/>
              <a:t>с обозначением коммутируемых контактов</a:t>
            </a:r>
            <a:endParaRPr lang="ru-RU" dirty="0"/>
          </a:p>
        </p:txBody>
      </p:sp>
      <p:cxnSp>
        <p:nvCxnSpPr>
          <p:cNvPr id="27" name="Прямая соединительная линия 26"/>
          <p:cNvCxnSpPr/>
          <p:nvPr/>
        </p:nvCxnSpPr>
        <p:spPr>
          <a:xfrm>
            <a:off x="2449902" y="2205771"/>
            <a:ext cx="560717" cy="2151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/>
          <p:cNvCxnSpPr/>
          <p:nvPr/>
        </p:nvCxnSpPr>
        <p:spPr>
          <a:xfrm flipH="1">
            <a:off x="2300070" y="3554083"/>
            <a:ext cx="149834" cy="112759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Прямоугольник 33"/>
          <p:cNvSpPr/>
          <p:nvPr/>
        </p:nvSpPr>
        <p:spPr>
          <a:xfrm>
            <a:off x="2113472" y="4891177"/>
            <a:ext cx="186598" cy="3019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6" name="Прямая соединительная линия 35"/>
          <p:cNvCxnSpPr/>
          <p:nvPr/>
        </p:nvCxnSpPr>
        <p:spPr>
          <a:xfrm>
            <a:off x="2191109" y="4604015"/>
            <a:ext cx="0" cy="71848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/>
          <p:nvPr/>
        </p:nvCxnSpPr>
        <p:spPr>
          <a:xfrm flipV="1">
            <a:off x="2300070" y="5262114"/>
            <a:ext cx="641538" cy="60384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Равнобедренный треугольник 38"/>
          <p:cNvSpPr/>
          <p:nvPr/>
        </p:nvSpPr>
        <p:spPr>
          <a:xfrm rot="5174870">
            <a:off x="2548760" y="5162909"/>
            <a:ext cx="241540" cy="258792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1" name="Прямая соединительная линия 40"/>
          <p:cNvCxnSpPr/>
          <p:nvPr/>
        </p:nvCxnSpPr>
        <p:spPr>
          <a:xfrm>
            <a:off x="2806552" y="5163326"/>
            <a:ext cx="0" cy="25795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6135644" y="977948"/>
            <a:ext cx="491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6</a:t>
            </a:r>
            <a:r>
              <a:rPr lang="en-US" dirty="0" smtClean="0"/>
              <a:t>j</a:t>
            </a:r>
            <a:endParaRPr lang="ru-RU" dirty="0"/>
          </a:p>
        </p:txBody>
      </p:sp>
      <p:sp>
        <p:nvSpPr>
          <p:cNvPr id="47" name="TextBox 46"/>
          <p:cNvSpPr txBox="1"/>
          <p:nvPr/>
        </p:nvSpPr>
        <p:spPr>
          <a:xfrm>
            <a:off x="6096000" y="3437799"/>
            <a:ext cx="48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16j</a:t>
            </a:r>
            <a:endParaRPr lang="ru-RU" dirty="0"/>
          </a:p>
        </p:txBody>
      </p:sp>
      <p:sp>
        <p:nvSpPr>
          <p:cNvPr id="48" name="TextBox 47"/>
          <p:cNvSpPr txBox="1"/>
          <p:nvPr/>
        </p:nvSpPr>
        <p:spPr>
          <a:xfrm>
            <a:off x="6099190" y="1485676"/>
            <a:ext cx="5080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8j</a:t>
            </a:r>
            <a:endParaRPr lang="ru-RU" dirty="0"/>
          </a:p>
        </p:txBody>
      </p:sp>
      <p:sp>
        <p:nvSpPr>
          <p:cNvPr id="49" name="TextBox 48"/>
          <p:cNvSpPr txBox="1"/>
          <p:nvPr/>
        </p:nvSpPr>
        <p:spPr>
          <a:xfrm>
            <a:off x="6724504" y="937939"/>
            <a:ext cx="66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Gnd</a:t>
            </a:r>
            <a:endParaRPr lang="ru-RU" dirty="0"/>
          </a:p>
        </p:txBody>
      </p:sp>
      <p:sp>
        <p:nvSpPr>
          <p:cNvPr id="50" name="TextBox 49"/>
          <p:cNvSpPr txBox="1"/>
          <p:nvPr/>
        </p:nvSpPr>
        <p:spPr>
          <a:xfrm>
            <a:off x="6456310" y="2405226"/>
            <a:ext cx="6484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28h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6542014" y="3437799"/>
            <a:ext cx="5627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24i</a:t>
            </a:r>
            <a:endParaRPr lang="ru-RU" dirty="0"/>
          </a:p>
        </p:txBody>
      </p:sp>
      <p:sp>
        <p:nvSpPr>
          <p:cNvPr id="52" name="TextBox 51"/>
          <p:cNvSpPr txBox="1"/>
          <p:nvPr/>
        </p:nvSpPr>
        <p:spPr>
          <a:xfrm>
            <a:off x="7086865" y="3363928"/>
            <a:ext cx="644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29i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7668640" y="2162317"/>
            <a:ext cx="57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D1</a:t>
            </a:r>
            <a:endParaRPr lang="ru-RU" dirty="0"/>
          </a:p>
        </p:txBody>
      </p:sp>
      <p:sp>
        <p:nvSpPr>
          <p:cNvPr id="54" name="TextBox 53"/>
          <p:cNvSpPr txBox="1"/>
          <p:nvPr/>
        </p:nvSpPr>
        <p:spPr>
          <a:xfrm>
            <a:off x="2403502" y="5431842"/>
            <a:ext cx="575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D1</a:t>
            </a:r>
            <a:endParaRPr lang="ru-RU" dirty="0"/>
          </a:p>
        </p:txBody>
      </p:sp>
      <p:sp>
        <p:nvSpPr>
          <p:cNvPr id="55" name="TextBox 54"/>
          <p:cNvSpPr txBox="1"/>
          <p:nvPr/>
        </p:nvSpPr>
        <p:spPr>
          <a:xfrm>
            <a:off x="2282563" y="4741342"/>
            <a:ext cx="7433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R1</a:t>
            </a:r>
            <a:endParaRPr lang="ru-RU" dirty="0"/>
          </a:p>
        </p:txBody>
      </p:sp>
      <p:sp>
        <p:nvSpPr>
          <p:cNvPr id="56" name="TextBox 55"/>
          <p:cNvSpPr txBox="1"/>
          <p:nvPr/>
        </p:nvSpPr>
        <p:spPr>
          <a:xfrm>
            <a:off x="3046255" y="1792985"/>
            <a:ext cx="6632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Gnd</a:t>
            </a:r>
            <a:endParaRPr lang="ru-RU" dirty="0"/>
          </a:p>
        </p:txBody>
      </p:sp>
      <p:sp>
        <p:nvSpPr>
          <p:cNvPr id="57" name="TextBox 56"/>
          <p:cNvSpPr txBox="1"/>
          <p:nvPr/>
        </p:nvSpPr>
        <p:spPr>
          <a:xfrm>
            <a:off x="2672759" y="2891437"/>
            <a:ext cx="41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5v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36181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Объект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17328" y="1063865"/>
            <a:ext cx="4747868" cy="4747868"/>
          </a:xfrm>
          <a:prstGeom prst="rect">
            <a:avLst/>
          </a:prstGeom>
        </p:spPr>
      </p:pic>
      <p:pic>
        <p:nvPicPr>
          <p:cNvPr id="19" name="Рисунок 1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2000" y="2579374"/>
            <a:ext cx="5207016" cy="4080218"/>
          </a:xfrm>
          <a:prstGeom prst="rect">
            <a:avLst/>
          </a:prstGeom>
        </p:spPr>
      </p:pic>
      <p:sp>
        <p:nvSpPr>
          <p:cNvPr id="2" name="Номер слайда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40CAB5-4254-4253-A5D5-9A3BE52DBB1F}" type="slidenum">
              <a:rPr lang="ru-RU" smtClean="0"/>
              <a:t>7</a:t>
            </a:fld>
            <a:endParaRPr lang="ru-RU"/>
          </a:p>
        </p:txBody>
      </p:sp>
      <p:sp>
        <p:nvSpPr>
          <p:cNvPr id="3" name="Номер слайда 1"/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4BAD49-AEB5-4B21-8928-D2556B6ABAC0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4" name="TextBox 3"/>
          <p:cNvSpPr txBox="1"/>
          <p:nvPr/>
        </p:nvSpPr>
        <p:spPr>
          <a:xfrm>
            <a:off x="1017916" y="172528"/>
            <a:ext cx="101187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ПОДКЛЮЧЕНИЕ ПОТЕНЦИОМЕТРА (ПЕРЕМЕННОГО РЕЗИСТОРА)</a:t>
            </a:r>
            <a:endParaRPr lang="ru-RU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39085" y="1138686"/>
            <a:ext cx="2234242" cy="34163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	</a:t>
            </a:r>
            <a:r>
              <a:rPr lang="en-US" dirty="0" smtClean="0"/>
              <a:t>             GND</a:t>
            </a:r>
          </a:p>
          <a:p>
            <a:pPr algn="r"/>
            <a:r>
              <a:rPr lang="en-US" dirty="0" smtClean="0"/>
              <a:t>                 	</a:t>
            </a:r>
          </a:p>
          <a:p>
            <a:pPr algn="r"/>
            <a:r>
              <a:rPr lang="en-US" dirty="0" smtClean="0"/>
              <a:t>GND                         5V</a:t>
            </a:r>
            <a:endParaRPr lang="ru-RU" dirty="0" smtClean="0"/>
          </a:p>
          <a:p>
            <a:pPr algn="r"/>
            <a:endParaRPr lang="ru-RU" dirty="0"/>
          </a:p>
          <a:p>
            <a:pPr algn="r"/>
            <a:endParaRPr lang="ru-RU" dirty="0" smtClean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endParaRPr lang="en-US" dirty="0" smtClean="0"/>
          </a:p>
          <a:p>
            <a:pPr algn="r"/>
            <a:endParaRPr lang="en-US" dirty="0"/>
          </a:p>
          <a:p>
            <a:pPr algn="r"/>
            <a:r>
              <a:rPr lang="ru-RU" dirty="0" smtClean="0"/>
              <a:t>16</a:t>
            </a:r>
            <a:endParaRPr lang="en-US" dirty="0" smtClean="0"/>
          </a:p>
          <a:p>
            <a:pPr algn="r"/>
            <a:endParaRPr lang="en-US" dirty="0"/>
          </a:p>
          <a:p>
            <a:pPr algn="r"/>
            <a:endParaRPr lang="ru-RU" dirty="0"/>
          </a:p>
        </p:txBody>
      </p:sp>
      <p:cxnSp>
        <p:nvCxnSpPr>
          <p:cNvPr id="6" name="Прямая соединительная линия 5"/>
          <p:cNvCxnSpPr/>
          <p:nvPr/>
        </p:nvCxnSpPr>
        <p:spPr>
          <a:xfrm>
            <a:off x="4080293" y="2372264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единительная линия 6"/>
          <p:cNvCxnSpPr/>
          <p:nvPr/>
        </p:nvCxnSpPr>
        <p:spPr>
          <a:xfrm>
            <a:off x="6538821" y="1360097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6573327" y="1903562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6573327" y="3835880"/>
            <a:ext cx="293298" cy="862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Прямоугольник 10"/>
          <p:cNvSpPr/>
          <p:nvPr/>
        </p:nvSpPr>
        <p:spPr>
          <a:xfrm>
            <a:off x="7272067" y="1802921"/>
            <a:ext cx="741872" cy="207034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2" name="Прямая соединительная линия 11"/>
          <p:cNvCxnSpPr/>
          <p:nvPr/>
        </p:nvCxnSpPr>
        <p:spPr>
          <a:xfrm>
            <a:off x="6832119" y="1368723"/>
            <a:ext cx="15527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8393501" y="1368723"/>
            <a:ext cx="0" cy="54346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единительная линия 13"/>
          <p:cNvCxnSpPr>
            <a:stCxn id="11" idx="3"/>
          </p:cNvCxnSpPr>
          <p:nvPr/>
        </p:nvCxnSpPr>
        <p:spPr>
          <a:xfrm flipV="1">
            <a:off x="8013939" y="1903562"/>
            <a:ext cx="379562" cy="2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/>
          <p:cNvCxnSpPr>
            <a:endCxn id="11" idx="1"/>
          </p:cNvCxnSpPr>
          <p:nvPr/>
        </p:nvCxnSpPr>
        <p:spPr>
          <a:xfrm>
            <a:off x="6866625" y="1903562"/>
            <a:ext cx="405442" cy="28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11" idx="2"/>
          </p:cNvCxnSpPr>
          <p:nvPr/>
        </p:nvCxnSpPr>
        <p:spPr>
          <a:xfrm>
            <a:off x="7643003" y="2009955"/>
            <a:ext cx="17253" cy="1825925"/>
          </a:xfrm>
          <a:prstGeom prst="line">
            <a:avLst/>
          </a:prstGeom>
          <a:ln>
            <a:solidFill>
              <a:schemeClr val="tx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/>
          <p:cNvCxnSpPr/>
          <p:nvPr/>
        </p:nvCxnSpPr>
        <p:spPr>
          <a:xfrm>
            <a:off x="6866625" y="3835880"/>
            <a:ext cx="8022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29932" y="1179623"/>
            <a:ext cx="31055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Электрическая схема</a:t>
            </a:r>
            <a:r>
              <a:rPr lang="en-US" dirty="0" smtClean="0"/>
              <a:t> </a:t>
            </a:r>
            <a:r>
              <a:rPr lang="ru-RU" dirty="0" smtClean="0"/>
              <a:t>с обозначением коммутируемых контактов</a:t>
            </a:r>
            <a:endParaRPr lang="ru-RU" dirty="0"/>
          </a:p>
        </p:txBody>
      </p:sp>
      <p:sp>
        <p:nvSpPr>
          <p:cNvPr id="37" name="TextBox 36"/>
          <p:cNvSpPr txBox="1"/>
          <p:nvPr/>
        </p:nvSpPr>
        <p:spPr>
          <a:xfrm>
            <a:off x="1213141" y="2036760"/>
            <a:ext cx="1086929" cy="230832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ru-RU" dirty="0" smtClean="0"/>
          </a:p>
          <a:p>
            <a:r>
              <a:rPr lang="ru-RU" dirty="0" err="1" smtClean="0"/>
              <a:t>Ардуино</a:t>
            </a:r>
            <a:r>
              <a:rPr lang="ru-RU" dirty="0" smtClean="0"/>
              <a:t> Нано</a:t>
            </a:r>
          </a:p>
          <a:p>
            <a:r>
              <a:rPr lang="ru-RU" dirty="0" smtClean="0"/>
              <a:t>16 контакт с каждой стороны</a:t>
            </a:r>
          </a:p>
          <a:p>
            <a:endParaRPr lang="ru-RU" dirty="0"/>
          </a:p>
        </p:txBody>
      </p:sp>
      <p:sp>
        <p:nvSpPr>
          <p:cNvPr id="38" name="Прямоугольник 37"/>
          <p:cNvSpPr/>
          <p:nvPr/>
        </p:nvSpPr>
        <p:spPr>
          <a:xfrm>
            <a:off x="1562512" y="4112330"/>
            <a:ext cx="393632" cy="2587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9" name="Прямая соединительная линия 38"/>
          <p:cNvCxnSpPr/>
          <p:nvPr/>
        </p:nvCxnSpPr>
        <p:spPr>
          <a:xfrm flipV="1">
            <a:off x="1273527" y="4604015"/>
            <a:ext cx="483079" cy="1699403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Прямоугольник 39"/>
          <p:cNvSpPr/>
          <p:nvPr/>
        </p:nvSpPr>
        <p:spPr>
          <a:xfrm>
            <a:off x="1567956" y="4371123"/>
            <a:ext cx="388188" cy="31055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1" name="TextBox 40"/>
          <p:cNvSpPr txBox="1"/>
          <p:nvPr/>
        </p:nvSpPr>
        <p:spPr>
          <a:xfrm>
            <a:off x="1562512" y="5715974"/>
            <a:ext cx="10696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USB</a:t>
            </a:r>
          </a:p>
          <a:p>
            <a:r>
              <a:rPr lang="ru-RU" dirty="0" smtClean="0"/>
              <a:t>Питание по </a:t>
            </a:r>
            <a:r>
              <a:rPr lang="en-US" dirty="0" smtClean="0"/>
              <a:t>USB</a:t>
            </a:r>
            <a:endParaRPr lang="ru-RU" dirty="0"/>
          </a:p>
        </p:txBody>
      </p:sp>
      <p:cxnSp>
        <p:nvCxnSpPr>
          <p:cNvPr id="42" name="Прямая соединительная линия 41"/>
          <p:cNvCxnSpPr/>
          <p:nvPr/>
        </p:nvCxnSpPr>
        <p:spPr>
          <a:xfrm>
            <a:off x="2449902" y="2205771"/>
            <a:ext cx="560717" cy="21511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>
            <a:endCxn id="55" idx="1"/>
          </p:cNvCxnSpPr>
          <p:nvPr/>
        </p:nvCxnSpPr>
        <p:spPr>
          <a:xfrm>
            <a:off x="2449904" y="3554083"/>
            <a:ext cx="1043800" cy="35518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3655764" y="3418506"/>
            <a:ext cx="503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R1</a:t>
            </a:r>
            <a:endParaRPr lang="ru-RU" dirty="0"/>
          </a:p>
        </p:txBody>
      </p:sp>
      <p:sp>
        <p:nvSpPr>
          <p:cNvPr id="51" name="TextBox 50"/>
          <p:cNvSpPr txBox="1"/>
          <p:nvPr/>
        </p:nvSpPr>
        <p:spPr>
          <a:xfrm>
            <a:off x="2672759" y="2891437"/>
            <a:ext cx="416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5v</a:t>
            </a:r>
            <a:endParaRPr lang="ru-RU" dirty="0"/>
          </a:p>
        </p:txBody>
      </p:sp>
      <p:sp>
        <p:nvSpPr>
          <p:cNvPr id="53" name="TextBox 52"/>
          <p:cNvSpPr txBox="1"/>
          <p:nvPr/>
        </p:nvSpPr>
        <p:spPr>
          <a:xfrm>
            <a:off x="7651629" y="983571"/>
            <a:ext cx="69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Gnd</a:t>
            </a:r>
            <a:endParaRPr lang="ru-RU" dirty="0"/>
          </a:p>
        </p:txBody>
      </p:sp>
      <p:sp>
        <p:nvSpPr>
          <p:cNvPr id="54" name="TextBox 53"/>
          <p:cNvSpPr txBox="1"/>
          <p:nvPr/>
        </p:nvSpPr>
        <p:spPr>
          <a:xfrm>
            <a:off x="6845057" y="1581789"/>
            <a:ext cx="487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5V</a:t>
            </a:r>
            <a:endParaRPr lang="ru-RU" dirty="0"/>
          </a:p>
        </p:txBody>
      </p:sp>
      <p:sp>
        <p:nvSpPr>
          <p:cNvPr id="55" name="Прямоугольник 54"/>
          <p:cNvSpPr/>
          <p:nvPr/>
        </p:nvSpPr>
        <p:spPr>
          <a:xfrm>
            <a:off x="3493704" y="3334696"/>
            <a:ext cx="172528" cy="50981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58" name="Прямая соединительная линия 57"/>
          <p:cNvCxnSpPr/>
          <p:nvPr/>
        </p:nvCxnSpPr>
        <p:spPr>
          <a:xfrm>
            <a:off x="3010617" y="2922917"/>
            <a:ext cx="569351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Прямая соединительная линия 59"/>
          <p:cNvCxnSpPr/>
          <p:nvPr/>
        </p:nvCxnSpPr>
        <p:spPr>
          <a:xfrm>
            <a:off x="3579968" y="2922917"/>
            <a:ext cx="0" cy="131880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Прямая соединительная линия 61"/>
          <p:cNvCxnSpPr/>
          <p:nvPr/>
        </p:nvCxnSpPr>
        <p:spPr>
          <a:xfrm>
            <a:off x="2860748" y="4177029"/>
            <a:ext cx="719220" cy="4373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Прямая соединительная линия 67"/>
          <p:cNvCxnSpPr/>
          <p:nvPr/>
        </p:nvCxnSpPr>
        <p:spPr>
          <a:xfrm>
            <a:off x="2449050" y="2488291"/>
            <a:ext cx="401631" cy="9108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3082431" y="1703085"/>
            <a:ext cx="69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Gnd</a:t>
            </a:r>
            <a:endParaRPr lang="ru-RU" dirty="0"/>
          </a:p>
        </p:txBody>
      </p:sp>
      <p:sp>
        <p:nvSpPr>
          <p:cNvPr id="71" name="TextBox 70"/>
          <p:cNvSpPr txBox="1"/>
          <p:nvPr/>
        </p:nvSpPr>
        <p:spPr>
          <a:xfrm>
            <a:off x="7427039" y="1486020"/>
            <a:ext cx="503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R1</a:t>
            </a:r>
            <a:endParaRPr lang="ru-RU" dirty="0"/>
          </a:p>
        </p:txBody>
      </p:sp>
      <p:sp>
        <p:nvSpPr>
          <p:cNvPr id="72" name="TextBox 71"/>
          <p:cNvSpPr txBox="1"/>
          <p:nvPr/>
        </p:nvSpPr>
        <p:spPr>
          <a:xfrm>
            <a:off x="6547447" y="1573164"/>
            <a:ext cx="43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8j</a:t>
            </a:r>
            <a:endParaRPr lang="ru-RU" dirty="0"/>
          </a:p>
        </p:txBody>
      </p:sp>
      <p:sp>
        <p:nvSpPr>
          <p:cNvPr id="73" name="TextBox 72"/>
          <p:cNvSpPr txBox="1"/>
          <p:nvPr/>
        </p:nvSpPr>
        <p:spPr>
          <a:xfrm>
            <a:off x="6659432" y="1001592"/>
            <a:ext cx="5265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6j</a:t>
            </a:r>
            <a:endParaRPr lang="ru-RU" dirty="0"/>
          </a:p>
        </p:txBody>
      </p:sp>
      <p:sp>
        <p:nvSpPr>
          <p:cNvPr id="74" name="TextBox 73"/>
          <p:cNvSpPr txBox="1"/>
          <p:nvPr/>
        </p:nvSpPr>
        <p:spPr>
          <a:xfrm>
            <a:off x="6559148" y="3437799"/>
            <a:ext cx="6124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16j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817608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257</Words>
  <Application>Microsoft Office PowerPoint</Application>
  <PresentationFormat>Широкоэкранный</PresentationFormat>
  <Paragraphs>129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Тема Office</vt:lpstr>
      <vt:lpstr>СОЗДАНИЕ СХЕМ НА МАКЕТНОЙ ПЛАТЕ  </vt:lpstr>
      <vt:lpstr>МАКЕТНАЯ ПЛАТА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СОЗДАНИЕ СХЕМ НА МАКЕТНОЙ ПЛАТЕ</dc:title>
  <dc:creator>suhar</dc:creator>
  <cp:lastModifiedBy>suhar</cp:lastModifiedBy>
  <cp:revision>28</cp:revision>
  <dcterms:created xsi:type="dcterms:W3CDTF">2021-03-01T09:32:50Z</dcterms:created>
  <dcterms:modified xsi:type="dcterms:W3CDTF">2022-11-21T10:26:41Z</dcterms:modified>
</cp:coreProperties>
</file>