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0" r:id="rId3"/>
    <p:sldId id="261" r:id="rId4"/>
    <p:sldId id="262" r:id="rId5"/>
    <p:sldId id="267" r:id="rId6"/>
    <p:sldId id="263" r:id="rId7"/>
    <p:sldId id="264" r:id="rId8"/>
    <p:sldId id="266" r:id="rId9"/>
    <p:sldId id="265" r:id="rId10"/>
    <p:sldId id="257" r:id="rId11"/>
    <p:sldId id="268" r:id="rId12"/>
    <p:sldId id="258" r:id="rId13"/>
    <p:sldId id="259" r:id="rId14"/>
    <p:sldId id="269" r:id="rId15"/>
    <p:sldId id="270" r:id="rId16"/>
    <p:sldId id="271" r:id="rId17"/>
    <p:sldId id="298" r:id="rId18"/>
    <p:sldId id="272" r:id="rId19"/>
    <p:sldId id="273" r:id="rId20"/>
    <p:sldId id="278" r:id="rId21"/>
    <p:sldId id="274" r:id="rId22"/>
    <p:sldId id="275" r:id="rId23"/>
    <p:sldId id="299" r:id="rId24"/>
    <p:sldId id="276" r:id="rId25"/>
    <p:sldId id="277" r:id="rId26"/>
    <p:sldId id="279" r:id="rId27"/>
    <p:sldId id="281" r:id="rId28"/>
    <p:sldId id="289" r:id="rId29"/>
    <p:sldId id="293" r:id="rId30"/>
    <p:sldId id="297" r:id="rId31"/>
    <p:sldId id="296" r:id="rId32"/>
    <p:sldId id="288" r:id="rId33"/>
    <p:sldId id="290" r:id="rId34"/>
    <p:sldId id="282" r:id="rId35"/>
    <p:sldId id="283" r:id="rId36"/>
    <p:sldId id="284" r:id="rId37"/>
    <p:sldId id="285" r:id="rId38"/>
    <p:sldId id="286" r:id="rId3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80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6B6BF84-5C47-477C-A760-38E1A1066A1C}" type="datetimeFigureOut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12E2BF7-5D19-4CA0-9DC9-8F8DC46DF2E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7411" name="Номер слайда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166A03-CB2A-437B-A7F9-5332BD851C4B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0483" name="Номер слайда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144F3B6-AFF3-4A28-8084-6E7993AA6D3D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0F0C5-77A0-4196-95E9-54A915C220A5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3D704-6987-4C19-B99C-D9B5405F91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1A51A-C85D-4626-BFF6-35FDEE181D5B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A4149-6A87-49DB-B40C-C48F0FE6B0B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0E190-7987-4FF7-9F57-6019725D2350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C4C55-EBF9-4345-A200-7AE89DDE6A5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DC4E9-311A-4033-A46F-CC66819584C3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A23E6-54AE-4D32-B4DD-3CAF163974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95505-434E-4A40-9BAE-03B076AC9DA8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EF302-4F88-4E03-BD2C-A1015C7304B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5AE07-6D12-41A1-A1C2-65D30AE55906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1B3B4-9186-41E6-84EC-A7373E40F2C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77E42-A8BD-40F3-8768-3639BE1F4E6D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A2837-A843-4466-B6F3-6E4A8B3702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A14B8-F407-4728-AD3A-096DD8D0247F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F935B-BF91-4674-91A0-CE075A01002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C4AA7-8EEF-4375-8FE5-8A73775A8AE7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82639-351D-453B-AB63-DC2D67433D3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83CA5-E801-442C-9BC2-5B367237A076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4E43B-357B-4A70-A187-4166F4D3FCD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0983A-F8D2-4B58-9D1B-50CAA5EAA4CA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7908A-AE6A-452A-81E4-48FB18E72A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26D91CC-FFAD-4670-A8EE-C47220785138}" type="datetime1">
              <a:rPr lang="ru-RU"/>
              <a:pPr>
                <a:defRPr/>
              </a:pPr>
              <a:t>17.10.2021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6986E5C-B91A-4606-92BB-9686132E9B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Loop" TargetMode="External"/><Relationship Id="rId2" Type="http://schemas.openxmlformats.org/officeDocument/2006/relationships/hyperlink" Target="https://all-arduino.ru/programmirovanie-arduino/setup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ll-arduino.ru/programmirovanie-arduino/Break" TargetMode="External"/><Relationship Id="rId13" Type="http://schemas.openxmlformats.org/officeDocument/2006/relationships/hyperlink" Target="https://all-arduino.ru/matematicheskie-operaczii-arduino/" TargetMode="External"/><Relationship Id="rId3" Type="http://schemas.openxmlformats.org/officeDocument/2006/relationships/hyperlink" Target="https://all-arduino.ru/programmirovanie-arduino/Else" TargetMode="External"/><Relationship Id="rId7" Type="http://schemas.openxmlformats.org/officeDocument/2006/relationships/hyperlink" Target="https://all-arduino.ru/programmirovanie-arduino/DoWhile" TargetMode="External"/><Relationship Id="rId12" Type="http://schemas.openxmlformats.org/officeDocument/2006/relationships/hyperlink" Target="https://all-arduino.ru/programmirovanie-arduino/Assignment" TargetMode="External"/><Relationship Id="rId2" Type="http://schemas.openxmlformats.org/officeDocument/2006/relationships/hyperlink" Target="https://all-arduino.ru/programmirovanie-arduino/If" TargetMode="External"/><Relationship Id="rId16" Type="http://schemas.openxmlformats.org/officeDocument/2006/relationships/hyperlink" Target="https://all-arduino.ru/programmirovanie-arduino/Fpconstan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ll-arduino.ru/programmirovanie-arduino/While" TargetMode="External"/><Relationship Id="rId11" Type="http://schemas.openxmlformats.org/officeDocument/2006/relationships/hyperlink" Target="https://all-arduino.ru/programmirovanie-arduino/Goto" TargetMode="External"/><Relationship Id="rId5" Type="http://schemas.openxmlformats.org/officeDocument/2006/relationships/hyperlink" Target="https://all-arduino.ru/programmirovanie-arduino/SwitchCase" TargetMode="External"/><Relationship Id="rId15" Type="http://schemas.openxmlformats.org/officeDocument/2006/relationships/hyperlink" Target="https://all-arduino.ru/programmirovanie-arduino/IntegerConstants" TargetMode="External"/><Relationship Id="rId10" Type="http://schemas.openxmlformats.org/officeDocument/2006/relationships/hyperlink" Target="https://all-arduino.ru/programmirovanie-arduino/Return" TargetMode="External"/><Relationship Id="rId4" Type="http://schemas.openxmlformats.org/officeDocument/2006/relationships/hyperlink" Target="https://all-arduino.ru/programmirovanie-arduino/For" TargetMode="External"/><Relationship Id="rId9" Type="http://schemas.openxmlformats.org/officeDocument/2006/relationships/hyperlink" Target="https://all-arduino.ru/programmirovanie-arduino/Continue" TargetMode="External"/><Relationship Id="rId14" Type="http://schemas.openxmlformats.org/officeDocument/2006/relationships/hyperlink" Target="https://all-arduino.ru/programmirovanie-arduino/Constant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all-arduino.ru/programmirovanie-arduino/UnsignedInt" TargetMode="External"/><Relationship Id="rId13" Type="http://schemas.openxmlformats.org/officeDocument/2006/relationships/hyperlink" Target="https://all-arduino.ru/programmirovanie-arduino/Float" TargetMode="External"/><Relationship Id="rId18" Type="http://schemas.openxmlformats.org/officeDocument/2006/relationships/hyperlink" Target="https://all-arduino.ru/programmirovanie-arduino/ByteCast" TargetMode="External"/><Relationship Id="rId3" Type="http://schemas.openxmlformats.org/officeDocument/2006/relationships/hyperlink" Target="https://all-arduino.ru/programmirovanie-arduino/BooleanVariables" TargetMode="External"/><Relationship Id="rId21" Type="http://schemas.openxmlformats.org/officeDocument/2006/relationships/hyperlink" Target="https://all-arduino.ru/programmirovanie-arduino/LongCast" TargetMode="External"/><Relationship Id="rId7" Type="http://schemas.openxmlformats.org/officeDocument/2006/relationships/hyperlink" Target="https://all-arduino.ru/programmirovanie-arduino/Int" TargetMode="External"/><Relationship Id="rId12" Type="http://schemas.openxmlformats.org/officeDocument/2006/relationships/hyperlink" Target="https://all-arduino.ru/programmirovanie-arduino/Short" TargetMode="External"/><Relationship Id="rId17" Type="http://schemas.openxmlformats.org/officeDocument/2006/relationships/hyperlink" Target="https://all-arduino.ru/programmirovanie-arduino/CharCast" TargetMode="External"/><Relationship Id="rId2" Type="http://schemas.openxmlformats.org/officeDocument/2006/relationships/hyperlink" Target="https://all-arduino.ru/programmirovanie-arduino/Void" TargetMode="External"/><Relationship Id="rId16" Type="http://schemas.openxmlformats.org/officeDocument/2006/relationships/hyperlink" Target="https://all-arduino.ru/programmirovanie-arduino/Array" TargetMode="External"/><Relationship Id="rId20" Type="http://schemas.openxmlformats.org/officeDocument/2006/relationships/hyperlink" Target="https://all-arduino.ru/programmirovanie-arduino/WordCa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ll-arduino.ru/programmirovanie-arduino/Byte" TargetMode="External"/><Relationship Id="rId11" Type="http://schemas.openxmlformats.org/officeDocument/2006/relationships/hyperlink" Target="https://all-arduino.ru/programmirovanie-arduino/UnsignedLong" TargetMode="External"/><Relationship Id="rId5" Type="http://schemas.openxmlformats.org/officeDocument/2006/relationships/hyperlink" Target="https://all-arduino.ru/programmirovanie-arduino/UnsignedChar" TargetMode="External"/><Relationship Id="rId15" Type="http://schemas.openxmlformats.org/officeDocument/2006/relationships/hyperlink" Target="https://all-arduino.ru/programmirovanie-arduino/String" TargetMode="External"/><Relationship Id="rId10" Type="http://schemas.openxmlformats.org/officeDocument/2006/relationships/hyperlink" Target="https://all-arduino.ru/programmirovanie-arduino/Long" TargetMode="External"/><Relationship Id="rId19" Type="http://schemas.openxmlformats.org/officeDocument/2006/relationships/hyperlink" Target="https://all-arduino.ru/programmirovanie-arduino/IntCast" TargetMode="External"/><Relationship Id="rId4" Type="http://schemas.openxmlformats.org/officeDocument/2006/relationships/hyperlink" Target="https://all-arduino.ru/programmirovanie-arduino/Char" TargetMode="External"/><Relationship Id="rId9" Type="http://schemas.openxmlformats.org/officeDocument/2006/relationships/hyperlink" Target="https://all-arduino.ru/programmirovanie-arduino/Word" TargetMode="External"/><Relationship Id="rId14" Type="http://schemas.openxmlformats.org/officeDocument/2006/relationships/hyperlink" Target="https://all-arduino.ru/programmirovanie-arduino/Double" TargetMode="External"/><Relationship Id="rId22" Type="http://schemas.openxmlformats.org/officeDocument/2006/relationships/hyperlink" Target="https://all-arduino.ru/programmirovanie-arduino/FloatCast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Volatile" TargetMode="External"/><Relationship Id="rId2" Type="http://schemas.openxmlformats.org/officeDocument/2006/relationships/hyperlink" Target="https://all-arduino.ru/programmirovanie-arduino/Stati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l-arduino.ru/programmirovanie-arduino/Sizeof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all-arduino.ru/programmirovanie-arduino/Sqrt" TargetMode="External"/><Relationship Id="rId13" Type="http://schemas.openxmlformats.org/officeDocument/2006/relationships/hyperlink" Target="https://all-arduino.ru/programmirovanie-arduino/RandomSeed" TargetMode="External"/><Relationship Id="rId3" Type="http://schemas.openxmlformats.org/officeDocument/2006/relationships/hyperlink" Target="https://all-arduino.ru/programmirovanie-arduino/Max" TargetMode="External"/><Relationship Id="rId7" Type="http://schemas.openxmlformats.org/officeDocument/2006/relationships/hyperlink" Target="https://all-arduino.ru/programmirovanie-arduino/Pow" TargetMode="External"/><Relationship Id="rId12" Type="http://schemas.openxmlformats.org/officeDocument/2006/relationships/hyperlink" Target="https://all-arduino.ru/programmirovanie-arduino/Tan" TargetMode="External"/><Relationship Id="rId2" Type="http://schemas.openxmlformats.org/officeDocument/2006/relationships/hyperlink" Target="https://all-arduino.ru/programmirovanie-arduino/Mi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ll-arduino.ru/programmirovanie-arduino/Map" TargetMode="External"/><Relationship Id="rId11" Type="http://schemas.openxmlformats.org/officeDocument/2006/relationships/hyperlink" Target="https://all-arduino.ru/programmirovanie-arduino/Cos" TargetMode="External"/><Relationship Id="rId5" Type="http://schemas.openxmlformats.org/officeDocument/2006/relationships/hyperlink" Target="https://all-arduino.ru/programmirovanie-arduino/Constrain" TargetMode="External"/><Relationship Id="rId10" Type="http://schemas.openxmlformats.org/officeDocument/2006/relationships/hyperlink" Target="https://all-arduino.ru/programmirovanie-arduino/Sin" TargetMode="External"/><Relationship Id="rId4" Type="http://schemas.openxmlformats.org/officeDocument/2006/relationships/hyperlink" Target="https://all-arduino.ru/programmirovanie-arduino/Abs" TargetMode="External"/><Relationship Id="rId9" Type="http://schemas.openxmlformats.org/officeDocument/2006/relationships/hyperlink" Target="https://all-arduino.ru/programmirovanie-arduino/Sq" TargetMode="External"/><Relationship Id="rId14" Type="http://schemas.openxmlformats.org/officeDocument/2006/relationships/hyperlink" Target="https://all-arduino.ru/programmirovanie-arduino/Rando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HighByte" TargetMode="External"/><Relationship Id="rId2" Type="http://schemas.openxmlformats.org/officeDocument/2006/relationships/hyperlink" Target="https://all-arduino.ru/programmirovanie-arduino/LowBy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BitWrite" TargetMode="External"/><Relationship Id="rId2" Type="http://schemas.openxmlformats.org/officeDocument/2006/relationships/hyperlink" Target="https://all-arduino.ru/programmirovanie-arduino/BitRea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ll-arduino.ru/programmirovanie-arduino/Bit" TargetMode="External"/><Relationship Id="rId5" Type="http://schemas.openxmlformats.org/officeDocument/2006/relationships/hyperlink" Target="https://all-arduino.ru/programmirovanie-arduino/BitClear" TargetMode="External"/><Relationship Id="rId4" Type="http://schemas.openxmlformats.org/officeDocument/2006/relationships/hyperlink" Target="https://all-arduino.ru/programmirovanie-arduino/BitSe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DigitalWrite" TargetMode="External"/><Relationship Id="rId2" Type="http://schemas.openxmlformats.org/officeDocument/2006/relationships/hyperlink" Target="https://all-arduino.ru/programmirovanie-arduino/PinMod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l-arduino.ru/programmirovanie-arduino/DigitalRead" TargetMode="External"/><Relationship Id="rId4" Type="http://schemas.openxmlformats.org/officeDocument/2006/relationships/hyperlink" Target="https://all-arduino.ru/programmirovanie-arduino/Constant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AnalogRead" TargetMode="External"/><Relationship Id="rId2" Type="http://schemas.openxmlformats.org/officeDocument/2006/relationships/hyperlink" Target="https://all-arduino.ru/programmirovanie-arduino/AnalogReferenc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all-arduino.ru/programmirovanie-arduino/AnalogWrit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NoTone" TargetMode="External"/><Relationship Id="rId2" Type="http://schemas.openxmlformats.org/officeDocument/2006/relationships/hyperlink" Target="https://all-arduino.ru/programmirovanie-arduino/Ton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Micros" TargetMode="External"/><Relationship Id="rId2" Type="http://schemas.openxmlformats.org/officeDocument/2006/relationships/hyperlink" Target="https://all-arduino.ru/programmirovanie-arduino/Mill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l-arduino.ru/programmirovanie-arduino/DelayMicroseconds" TargetMode="External"/><Relationship Id="rId4" Type="http://schemas.openxmlformats.org/officeDocument/2006/relationships/hyperlink" Target="https://all-arduino.ru/programmirovanie-arduino/Delay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DetachInterrupt" TargetMode="External"/><Relationship Id="rId2" Type="http://schemas.openxmlformats.org/officeDocument/2006/relationships/hyperlink" Target="https://all-arduino.ru/programmirovanie-arduino/AttachInterrup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programmirovanie-arduino/NoInterrupts" TargetMode="External"/><Relationship Id="rId2" Type="http://schemas.openxmlformats.org/officeDocument/2006/relationships/hyperlink" Target="https://all-arduino.ru/programmirovanie-arduino/Interrupt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biblioteki-arduino/arduino-biblioteka-servo/" TargetMode="External"/><Relationship Id="rId2" Type="http://schemas.openxmlformats.org/officeDocument/2006/relationships/hyperlink" Target="https://all-arduino.ru/biblioteki-arduino/arduino-biblioteka-seria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ll-arduino.ru/product/gsm-gprs-modul-dlya-arduino/" TargetMode="External"/><Relationship Id="rId5" Type="http://schemas.openxmlformats.org/officeDocument/2006/relationships/hyperlink" Target="https://all-arduino.ru/product/ethernet-shild-dlya-arduino-uno/" TargetMode="External"/><Relationship Id="rId4" Type="http://schemas.openxmlformats.org/officeDocument/2006/relationships/hyperlink" Target="https://all-arduino.ru/biblioteki-arduino/arduino-biblioteka-wire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arduino.ru/biblioteki-arduino/arduino-biblioteka-serial/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all-arduino.ru/biblioteki-arduino/arduino-biblioteka-servo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D4C2CA-B834-4FF5-A963-2E388C875C26}" type="slidenum">
              <a:rPr lang="ru-RU"/>
              <a:pPr>
                <a:defRPr/>
              </a:pPr>
              <a:t>1</a:t>
            </a:fld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6205458-8C6D-4839-B002-DB2BBECABBF2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2225" y="0"/>
            <a:ext cx="9144000" cy="112553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ФУНКЦИИ С++</a:t>
            </a:r>
            <a:b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ПРОГРАММИРОВАНИЯ АРДУИНО</a:t>
            </a:r>
            <a:endParaRPr lang="ru-RU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-17463" y="1412875"/>
            <a:ext cx="9144001" cy="63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i="1" dirty="0">
                <a:cs typeface="Arial" charset="0"/>
              </a:rPr>
              <a:t>Операторы формирования структуры программы</a:t>
            </a:r>
          </a:p>
          <a:p>
            <a:r>
              <a:rPr lang="en-US" sz="2400" b="1" dirty="0">
                <a:cs typeface="Arial" charset="0"/>
                <a:hlinkClick r:id="rId2"/>
              </a:rPr>
              <a:t>setup()</a:t>
            </a:r>
            <a:r>
              <a:rPr lang="ru-RU" sz="2400" b="1" dirty="0">
                <a:cs typeface="Arial" charset="0"/>
              </a:rPr>
              <a:t> – определяет область программы, которая выполняется только при загрузке (т.е. один раз). Используется для настройки портов </a:t>
            </a:r>
            <a:r>
              <a:rPr lang="ru-RU" sz="2400" b="1" dirty="0" err="1">
                <a:cs typeface="Arial" charset="0"/>
              </a:rPr>
              <a:t>Ардуино</a:t>
            </a:r>
            <a:r>
              <a:rPr lang="ru-RU" sz="2400" b="1" dirty="0">
                <a:cs typeface="Arial" charset="0"/>
              </a:rPr>
              <a:t>.   </a:t>
            </a:r>
          </a:p>
          <a:p>
            <a:r>
              <a:rPr lang="en-US" sz="2400" b="1" dirty="0">
                <a:cs typeface="Arial" charset="0"/>
                <a:hlinkClick r:id="rId3"/>
              </a:rPr>
              <a:t>loop()</a:t>
            </a:r>
            <a:r>
              <a:rPr lang="ru-RU" sz="2400" b="1" dirty="0">
                <a:cs typeface="Arial" charset="0"/>
              </a:rPr>
              <a:t> - определяет область программы, которая выполняется в цикле</a:t>
            </a:r>
          </a:p>
          <a:p>
            <a:endParaRPr lang="ru-RU" sz="2400" b="1" dirty="0">
              <a:cs typeface="Arial" charset="0"/>
            </a:endParaRPr>
          </a:p>
          <a:p>
            <a:r>
              <a:rPr lang="en-US" sz="2000" b="1" dirty="0" err="1">
                <a:cs typeface="Arial" charset="0"/>
              </a:rPr>
              <a:t>int</a:t>
            </a:r>
            <a:r>
              <a:rPr lang="en-US" sz="2000" b="1" dirty="0">
                <a:cs typeface="Arial" charset="0"/>
              </a:rPr>
              <a:t> 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 = 3;</a:t>
            </a:r>
            <a:endParaRPr lang="ru-RU" sz="2000" b="1" dirty="0">
              <a:cs typeface="Arial" charset="0"/>
            </a:endParaRPr>
          </a:p>
          <a:p>
            <a:endParaRPr lang="ru-RU" sz="2000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void setup()</a:t>
            </a:r>
            <a:r>
              <a:rPr lang="ru-RU" sz="2000" b="1" dirty="0">
                <a:cs typeface="Arial" charset="0"/>
              </a:rPr>
              <a:t> </a:t>
            </a:r>
            <a:r>
              <a:rPr lang="en-US" sz="2000" b="1" dirty="0">
                <a:cs typeface="Arial" charset="0"/>
              </a:rPr>
              <a:t>{</a:t>
            </a:r>
            <a:endParaRPr lang="ru-RU" sz="2000" b="1" dirty="0">
              <a:cs typeface="Arial" charset="0"/>
            </a:endParaRPr>
          </a:p>
          <a:p>
            <a:r>
              <a:rPr lang="en-US" sz="2000" b="1" dirty="0" err="1">
                <a:cs typeface="Arial" charset="0"/>
              </a:rPr>
              <a:t>Serial.begin</a:t>
            </a:r>
            <a:r>
              <a:rPr lang="en-US" sz="2000" b="1" dirty="0">
                <a:cs typeface="Arial" charset="0"/>
              </a:rPr>
              <a:t>(9600);//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задаем скор. обмена посл. </a:t>
            </a:r>
            <a:r>
              <a:rPr lang="ru-RU" sz="2000" b="1" i="1" dirty="0" smtClean="0">
                <a:solidFill>
                  <a:srgbClr val="00B050"/>
                </a:solidFill>
                <a:cs typeface="Arial" charset="0"/>
              </a:rPr>
              <a:t>порта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:</a:t>
            </a:r>
            <a:r>
              <a:rPr lang="en-US" sz="2000" b="1" i="1" dirty="0">
                <a:solidFill>
                  <a:srgbClr val="00B050"/>
                </a:solidFill>
                <a:cs typeface="Arial" charset="0"/>
              </a:rPr>
              <a:t> 9600 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бод(бит/с)</a:t>
            </a:r>
          </a:p>
          <a:p>
            <a:r>
              <a:rPr lang="en-US" sz="2000" b="1" dirty="0" err="1">
                <a:cs typeface="Arial" charset="0"/>
              </a:rPr>
              <a:t>pinMode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, INPUT);</a:t>
            </a:r>
            <a:r>
              <a:rPr lang="ru-RU" sz="2000" b="1" dirty="0">
                <a:cs typeface="Arial" charset="0"/>
              </a:rPr>
              <a:t> //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3-й порт работает на вход.</a:t>
            </a:r>
          </a:p>
          <a:p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                                     </a:t>
            </a:r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(по  умолчанию все порты работают на ВХОД)</a:t>
            </a:r>
          </a:p>
          <a:p>
            <a:r>
              <a:rPr lang="ru-RU" sz="2000" b="1" dirty="0">
                <a:cs typeface="Arial" charset="0"/>
              </a:rPr>
              <a:t>		</a:t>
            </a:r>
            <a:r>
              <a:rPr lang="en-US" sz="2000" b="1" dirty="0">
                <a:cs typeface="Arial" charset="0"/>
              </a:rPr>
              <a:t>}</a:t>
            </a:r>
            <a:endParaRPr lang="ru-RU" sz="2000" b="1" dirty="0">
              <a:cs typeface="Arial" charset="0"/>
            </a:endParaRPr>
          </a:p>
          <a:p>
            <a:endParaRPr lang="ru-RU" sz="2400" b="1" dirty="0">
              <a:cs typeface="Arial" charset="0"/>
            </a:endParaRPr>
          </a:p>
          <a:p>
            <a:endParaRPr lang="ru-RU" sz="2400" b="1" dirty="0">
              <a:cs typeface="Arial" charset="0"/>
            </a:endParaRPr>
          </a:p>
          <a:p>
            <a:endParaRPr lang="ru-RU" sz="2400" b="1" dirty="0">
              <a:cs typeface="Arial" charset="0"/>
            </a:endParaRPr>
          </a:p>
          <a:p>
            <a:endParaRPr lang="ru-RU" sz="2400" b="1" dirty="0">
              <a:cs typeface="Arial" charset="0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11E884B-C3DE-4D00-A90A-88500924B4FF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ED296B-E205-463E-98C2-6D5080B15BCC}" type="slidenum">
              <a:rPr lang="ru-RU"/>
              <a:pPr>
                <a:defRPr/>
              </a:pPr>
              <a:t>2</a:t>
            </a:fld>
            <a:endParaRPr lang="ru-RU"/>
          </a:p>
        </p:txBody>
      </p:sp>
      <p:sp>
        <p:nvSpPr>
          <p:cNvPr id="5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A4A96E8-A13B-4B96-AB83-C32878748C87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1F116F9-FF9E-45D8-A864-601DE6811634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5364" name="Прямоугольник 4"/>
          <p:cNvSpPr>
            <a:spLocks noChangeArrowheads="1"/>
          </p:cNvSpPr>
          <p:nvPr/>
        </p:nvSpPr>
        <p:spPr bwMode="auto">
          <a:xfrm>
            <a:off x="0" y="115888"/>
            <a:ext cx="9144000" cy="674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cs typeface="Arial" charset="0"/>
              </a:rPr>
              <a:t>void loop(){</a:t>
            </a:r>
            <a:r>
              <a:rPr lang="ru-RU" sz="2400" b="1" dirty="0">
                <a:cs typeface="Arial" charset="0"/>
              </a:rPr>
              <a:t>//1</a:t>
            </a:r>
          </a:p>
          <a:p>
            <a:r>
              <a:rPr lang="en-US" sz="2400" b="1" dirty="0">
                <a:cs typeface="Arial" charset="0"/>
              </a:rPr>
              <a:t> </a:t>
            </a:r>
          </a:p>
          <a:p>
            <a:r>
              <a:rPr lang="en-US" sz="2400" b="1" dirty="0">
                <a:cs typeface="Arial" charset="0"/>
              </a:rPr>
              <a:t>if (</a:t>
            </a:r>
            <a:r>
              <a:rPr lang="en-US" sz="2400" b="1" dirty="0" err="1">
                <a:cs typeface="Arial" charset="0"/>
              </a:rPr>
              <a:t>digitalRead</a:t>
            </a:r>
            <a:r>
              <a:rPr lang="en-US" sz="2400" b="1" dirty="0">
                <a:cs typeface="Arial" charset="0"/>
              </a:rPr>
              <a:t>(</a:t>
            </a:r>
            <a:r>
              <a:rPr lang="en-US" sz="2400" b="1" dirty="0" err="1">
                <a:cs typeface="Arial" charset="0"/>
              </a:rPr>
              <a:t>buttonPin</a:t>
            </a:r>
            <a:r>
              <a:rPr lang="en-US" sz="2400" b="1" dirty="0">
                <a:cs typeface="Arial" charset="0"/>
              </a:rPr>
              <a:t>) == HIGH) </a:t>
            </a:r>
            <a:r>
              <a:rPr lang="en-US" sz="2400" b="1" dirty="0" err="1">
                <a:cs typeface="Arial" charset="0"/>
              </a:rPr>
              <a:t>serialWrite</a:t>
            </a:r>
            <a:r>
              <a:rPr lang="en-US" sz="2400" b="1" dirty="0">
                <a:cs typeface="Arial" charset="0"/>
              </a:rPr>
              <a:t>('H')</a:t>
            </a:r>
            <a:endParaRPr lang="ru-RU" sz="2400" b="1" dirty="0">
              <a:cs typeface="Arial" charset="0"/>
            </a:endParaRPr>
          </a:p>
          <a:p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sz="2000" b="1" i="1" dirty="0">
                <a:cs typeface="Arial" charset="0"/>
              </a:rPr>
              <a:t> 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в цикле проверяется состояние кнопки по порту </a:t>
            </a:r>
            <a:r>
              <a:rPr lang="en-US" sz="2000" b="1" dirty="0" err="1">
                <a:solidFill>
                  <a:srgbClr val="00B050"/>
                </a:solidFill>
                <a:cs typeface="Arial" charset="0"/>
              </a:rPr>
              <a:t>buttonPin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.</a:t>
            </a:r>
          </a:p>
          <a:p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 Если кнопка нажата, то на последовательный порт отправляем символ </a:t>
            </a:r>
            <a:r>
              <a:rPr lang="en-US" sz="2000" b="1" dirty="0">
                <a:solidFill>
                  <a:srgbClr val="00B050"/>
                </a:solidFill>
                <a:cs typeface="Arial" charset="0"/>
              </a:rPr>
              <a:t>'H‘</a:t>
            </a:r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.</a:t>
            </a:r>
          </a:p>
          <a:p>
            <a:endParaRPr lang="ru-RU" sz="2000" b="1" dirty="0">
              <a:cs typeface="Arial" charset="0"/>
            </a:endParaRPr>
          </a:p>
          <a:p>
            <a:r>
              <a:rPr lang="en-US" sz="2400" b="1" dirty="0">
                <a:cs typeface="Arial" charset="0"/>
              </a:rPr>
              <a:t>       else </a:t>
            </a:r>
            <a:r>
              <a:rPr lang="en-US" sz="2400" b="1" dirty="0" err="1">
                <a:cs typeface="Arial" charset="0"/>
              </a:rPr>
              <a:t>serialWrite</a:t>
            </a:r>
            <a:r>
              <a:rPr lang="en-US" sz="2400" b="1" dirty="0">
                <a:cs typeface="Arial" charset="0"/>
              </a:rPr>
              <a:t>('L');</a:t>
            </a:r>
          </a:p>
          <a:p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 Если кнопка не нажата, то на последовательный порт отправляем символ </a:t>
            </a:r>
            <a:r>
              <a:rPr lang="en-US" sz="2000" b="1" dirty="0">
                <a:solidFill>
                  <a:srgbClr val="00B050"/>
                </a:solidFill>
                <a:cs typeface="Arial" charset="0"/>
              </a:rPr>
              <a:t>‘L‘</a:t>
            </a:r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.</a:t>
            </a:r>
          </a:p>
          <a:p>
            <a:endParaRPr lang="ru-RU" sz="2000" b="1" dirty="0">
              <a:cs typeface="Arial" charset="0"/>
            </a:endParaRPr>
          </a:p>
          <a:p>
            <a:r>
              <a:rPr lang="en-US" sz="2400" b="1" dirty="0">
                <a:cs typeface="Arial" charset="0"/>
              </a:rPr>
              <a:t>delay(</a:t>
            </a:r>
            <a:r>
              <a:rPr lang="ru-RU" sz="2400" b="1" dirty="0">
                <a:cs typeface="Arial" charset="0"/>
              </a:rPr>
              <a:t>50</a:t>
            </a:r>
            <a:r>
              <a:rPr lang="en-US" sz="2400" b="1" dirty="0">
                <a:cs typeface="Arial" charset="0"/>
              </a:rPr>
              <a:t>);</a:t>
            </a:r>
            <a:endParaRPr lang="ru-RU" sz="2400" b="1" dirty="0">
              <a:cs typeface="Arial" charset="0"/>
            </a:endParaRPr>
          </a:p>
          <a:p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 Делаем задержку для того, чтобы исключить дребезг контактов </a:t>
            </a:r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en-US" sz="20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ru-RU" sz="2000" b="1" i="1" dirty="0">
                <a:solidFill>
                  <a:srgbClr val="00B050"/>
                </a:solidFill>
                <a:cs typeface="Arial" charset="0"/>
              </a:rPr>
              <a:t>кнопки</a:t>
            </a:r>
          </a:p>
          <a:p>
            <a:r>
              <a:rPr lang="en-US" sz="2400" b="1" dirty="0">
                <a:cs typeface="Arial" charset="0"/>
              </a:rPr>
              <a:t>                   }</a:t>
            </a:r>
            <a:r>
              <a:rPr lang="ru-RU" sz="2400" b="1" dirty="0">
                <a:cs typeface="Arial" charset="0"/>
              </a:rPr>
              <a:t>//1</a:t>
            </a:r>
            <a:endParaRPr lang="en-US" sz="2400" b="1" dirty="0">
              <a:cs typeface="Arial" charset="0"/>
            </a:endParaRPr>
          </a:p>
          <a:p>
            <a:endParaRPr lang="ru-RU" sz="2400" b="1" dirty="0">
              <a:cs typeface="Arial" charset="0"/>
            </a:endParaRPr>
          </a:p>
          <a:p>
            <a:r>
              <a:rPr lang="ru-RU" sz="2000" b="1" dirty="0">
                <a:solidFill>
                  <a:srgbClr val="FF0000"/>
                </a:solidFill>
                <a:cs typeface="Arial" charset="0"/>
              </a:rPr>
              <a:t>     Недостаток </a:t>
            </a:r>
            <a:r>
              <a:rPr lang="en-US" sz="2000" b="1" dirty="0">
                <a:solidFill>
                  <a:srgbClr val="FF0000"/>
                </a:solidFill>
                <a:cs typeface="Arial" charset="0"/>
              </a:rPr>
              <a:t>Arduino IDE. </a:t>
            </a:r>
            <a:r>
              <a:rPr lang="ru-RU" sz="2000" b="1" dirty="0">
                <a:solidFill>
                  <a:srgbClr val="FF0000"/>
                </a:solidFill>
                <a:cs typeface="Arial" charset="0"/>
              </a:rPr>
              <a:t>Функция </a:t>
            </a:r>
            <a:r>
              <a:rPr lang="en-US" sz="2000" b="1" dirty="0" err="1">
                <a:solidFill>
                  <a:srgbClr val="FF0000"/>
                </a:solidFill>
                <a:cs typeface="Arial" charset="0"/>
              </a:rPr>
              <a:t>digitalRead</a:t>
            </a:r>
            <a:r>
              <a:rPr lang="en-US" sz="2000" b="1" dirty="0">
                <a:solidFill>
                  <a:srgbClr val="FF0000"/>
                </a:solidFill>
                <a:cs typeface="Arial" charset="0"/>
              </a:rPr>
              <a:t>(</a:t>
            </a:r>
            <a:r>
              <a:rPr lang="ru-RU" sz="2000" b="1" dirty="0">
                <a:solidFill>
                  <a:srgbClr val="FF0000"/>
                </a:solidFill>
                <a:cs typeface="Arial" charset="0"/>
              </a:rPr>
              <a:t>…</a:t>
            </a:r>
            <a:r>
              <a:rPr lang="en-US" sz="2000" b="1" dirty="0">
                <a:solidFill>
                  <a:srgbClr val="FF0000"/>
                </a:solidFill>
                <a:cs typeface="Arial" charset="0"/>
              </a:rPr>
              <a:t>) == HIGH</a:t>
            </a:r>
            <a:r>
              <a:rPr lang="ru-RU" sz="2000" b="1" dirty="0">
                <a:solidFill>
                  <a:srgbClr val="FF0000"/>
                </a:solidFill>
                <a:cs typeface="Arial" charset="0"/>
              </a:rPr>
              <a:t> принимает только логические значения </a:t>
            </a:r>
            <a:r>
              <a:rPr lang="en-US" sz="2000" b="1" dirty="0">
                <a:solidFill>
                  <a:srgbClr val="FF0000"/>
                </a:solidFill>
                <a:cs typeface="Arial" charset="0"/>
              </a:rPr>
              <a:t>HIGH</a:t>
            </a:r>
            <a:r>
              <a:rPr lang="ru-RU" sz="2000" b="1" dirty="0">
                <a:solidFill>
                  <a:srgbClr val="FF0000"/>
                </a:solidFill>
                <a:cs typeface="Arial" charset="0"/>
              </a:rPr>
              <a:t> или </a:t>
            </a:r>
            <a:r>
              <a:rPr lang="en-US" sz="2000" b="1" dirty="0">
                <a:solidFill>
                  <a:srgbClr val="FF0000"/>
                </a:solidFill>
                <a:cs typeface="Arial" charset="0"/>
              </a:rPr>
              <a:t>LOW</a:t>
            </a:r>
            <a:r>
              <a:rPr lang="ru-RU" sz="2000" b="1" dirty="0">
                <a:solidFill>
                  <a:srgbClr val="FF0000"/>
                </a:solidFill>
                <a:cs typeface="Arial" charset="0"/>
              </a:rPr>
              <a:t>, что очень неудобно для вычислений. Нет функции считывания порта целиком.</a:t>
            </a:r>
            <a:endParaRPr lang="en-US" sz="2000" b="1" dirty="0">
              <a:solidFill>
                <a:srgbClr val="FF0000"/>
              </a:solidFill>
              <a:cs typeface="Arial" charset="0"/>
            </a:endParaRPr>
          </a:p>
          <a:p>
            <a:r>
              <a:rPr lang="ru-RU" sz="2400" b="1" dirty="0">
                <a:cs typeface="Arial" charset="0"/>
              </a:rPr>
              <a:t>Работа с кнопками(см. след. слайд)</a:t>
            </a:r>
            <a:endParaRPr lang="ru-RU" b="1" dirty="0"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1D285D-0FC1-44BE-81AF-A715B5236F06}" type="slidenum">
              <a:rPr lang="ru-RU"/>
              <a:pPr>
                <a:defRPr/>
              </a:pPr>
              <a:t>3</a:t>
            </a:fld>
            <a:endParaRPr lang="ru-RU"/>
          </a:p>
        </p:txBody>
      </p:sp>
      <p:sp>
        <p:nvSpPr>
          <p:cNvPr id="85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2C0ABB9-2CFE-45AD-9862-60931FB92411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6387" name="Заголовок 1"/>
          <p:cNvSpPr>
            <a:spLocks noGrp="1"/>
          </p:cNvSpPr>
          <p:nvPr>
            <p:ph type="title"/>
          </p:nvPr>
        </p:nvSpPr>
        <p:spPr>
          <a:xfrm>
            <a:off x="0" y="22225"/>
            <a:ext cx="9144000" cy="454025"/>
          </a:xfrm>
        </p:spPr>
        <p:txBody>
          <a:bodyPr/>
          <a:lstStyle/>
          <a:p>
            <a:pPr eaLnBrk="1" hangingPunct="1"/>
            <a:r>
              <a:rPr lang="ru-RU" sz="4000" b="1" smtClean="0">
                <a:latin typeface="Arial" charset="0"/>
                <a:cs typeface="Arial" charset="0"/>
              </a:rPr>
              <a:t>КНОПКИ. СХЕМЫ ПОДКЛЮЧЕНИЯ</a:t>
            </a: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88125" y="6619875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4C5E316-50A4-4E14-841C-152326090304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6389" name="TextBox 4"/>
          <p:cNvSpPr txBox="1">
            <a:spLocks noChangeArrowheads="1"/>
          </p:cNvSpPr>
          <p:nvPr/>
        </p:nvSpPr>
        <p:spPr bwMode="auto">
          <a:xfrm>
            <a:off x="0" y="666750"/>
            <a:ext cx="9144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Схема 1. С заземлением одного выхода.</a:t>
            </a:r>
          </a:p>
          <a:p>
            <a:r>
              <a:rPr lang="ru-RU" sz="2000" b="1">
                <a:cs typeface="Arial" charset="0"/>
              </a:rPr>
              <a:t>Значение входа инверсно по отношению к состоянии кнопки.</a:t>
            </a:r>
          </a:p>
        </p:txBody>
      </p:sp>
      <p:sp>
        <p:nvSpPr>
          <p:cNvPr id="16390" name="TextBox 6"/>
          <p:cNvSpPr txBox="1">
            <a:spLocks noChangeArrowheads="1"/>
          </p:cNvSpPr>
          <p:nvPr/>
        </p:nvSpPr>
        <p:spPr bwMode="auto">
          <a:xfrm>
            <a:off x="238125" y="2530475"/>
            <a:ext cx="2160588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Ардуино     Вход</a:t>
            </a:r>
          </a:p>
          <a:p>
            <a:r>
              <a:rPr lang="ru-RU">
                <a:latin typeface="Calibri" pitchFamily="34" charset="0"/>
              </a:rPr>
              <a:t>                      </a:t>
            </a:r>
            <a:r>
              <a:rPr lang="ru-RU" b="1">
                <a:cs typeface="Arial" charset="0"/>
              </a:rPr>
              <a:t>Земля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398713" y="2760663"/>
            <a:ext cx="576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398713" y="3049588"/>
            <a:ext cx="10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509838" y="3049588"/>
            <a:ext cx="0" cy="503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2362200" y="3551238"/>
            <a:ext cx="2889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26" idx="4"/>
          </p:cNvCxnSpPr>
          <p:nvPr/>
        </p:nvCxnSpPr>
        <p:spPr>
          <a:xfrm>
            <a:off x="2974975" y="1825625"/>
            <a:ext cx="0" cy="12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/>
          <p:cNvSpPr/>
          <p:nvPr/>
        </p:nvSpPr>
        <p:spPr>
          <a:xfrm>
            <a:off x="2903538" y="1681163"/>
            <a:ext cx="142875" cy="144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6397" name="TextBox 27"/>
          <p:cNvSpPr txBox="1">
            <a:spLocks noChangeArrowheads="1"/>
          </p:cNvSpPr>
          <p:nvPr/>
        </p:nvSpPr>
        <p:spPr bwMode="auto">
          <a:xfrm>
            <a:off x="179388" y="1590675"/>
            <a:ext cx="29527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                              5 В </a:t>
            </a:r>
          </a:p>
          <a:p>
            <a:r>
              <a:rPr lang="ru-RU" b="1">
                <a:cs typeface="Arial" charset="0"/>
              </a:rPr>
              <a:t>Подтягивающее сопро-                тивление </a:t>
            </a:r>
            <a:r>
              <a:rPr lang="en-US" b="1">
                <a:cs typeface="Arial" charset="0"/>
              </a:rPr>
              <a:t>R=1…20 </a:t>
            </a:r>
            <a:r>
              <a:rPr lang="ru-RU" b="1">
                <a:cs typeface="Arial" charset="0"/>
              </a:rPr>
              <a:t>к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903538" y="2112963"/>
            <a:ext cx="142875" cy="4175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flipV="1">
            <a:off x="2974975" y="3049588"/>
            <a:ext cx="71438" cy="215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2971800" y="3265488"/>
            <a:ext cx="0" cy="285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2843213" y="3551238"/>
            <a:ext cx="28733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2" name="TextBox 37"/>
          <p:cNvSpPr txBox="1">
            <a:spLocks noChangeArrowheads="1"/>
          </p:cNvSpPr>
          <p:nvPr/>
        </p:nvSpPr>
        <p:spPr bwMode="auto">
          <a:xfrm>
            <a:off x="3411538" y="2527300"/>
            <a:ext cx="12319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Ардуино</a:t>
            </a:r>
            <a:endParaRPr lang="en-US" b="1">
              <a:cs typeface="Arial" charset="0"/>
            </a:endParaRPr>
          </a:p>
          <a:p>
            <a:r>
              <a:rPr lang="en-US" b="1">
                <a:cs typeface="Arial" charset="0"/>
              </a:rPr>
              <a:t>R</a:t>
            </a:r>
            <a:r>
              <a:rPr lang="ru-RU" b="1">
                <a:cs typeface="Arial" charset="0"/>
              </a:rPr>
              <a:t>вх</a:t>
            </a:r>
            <a:r>
              <a:rPr lang="en-US" b="1">
                <a:cs typeface="Arial" charset="0"/>
              </a:rPr>
              <a:t> &gt;&gt;R</a:t>
            </a:r>
            <a:endParaRPr lang="ru-RU" b="1">
              <a:cs typeface="Arial" charset="0"/>
            </a:endParaRPr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>
            <a:off x="4643438" y="2757488"/>
            <a:ext cx="576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4643438" y="3046413"/>
            <a:ext cx="10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/>
        </p:nvCxnSpPr>
        <p:spPr>
          <a:xfrm>
            <a:off x="4754563" y="3046413"/>
            <a:ext cx="0" cy="503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>
            <a:off x="4608513" y="3549650"/>
            <a:ext cx="28733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44" idx="4"/>
          </p:cNvCxnSpPr>
          <p:nvPr/>
        </p:nvCxnSpPr>
        <p:spPr>
          <a:xfrm>
            <a:off x="5219700" y="1822450"/>
            <a:ext cx="0" cy="12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Овал 43"/>
          <p:cNvSpPr/>
          <p:nvPr/>
        </p:nvSpPr>
        <p:spPr>
          <a:xfrm>
            <a:off x="5148263" y="1677988"/>
            <a:ext cx="142875" cy="144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6409" name="TextBox 44"/>
          <p:cNvSpPr txBox="1">
            <a:spLocks noChangeArrowheads="1"/>
          </p:cNvSpPr>
          <p:nvPr/>
        </p:nvSpPr>
        <p:spPr bwMode="auto">
          <a:xfrm>
            <a:off x="5376863" y="1625600"/>
            <a:ext cx="70008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5 В</a:t>
            </a:r>
          </a:p>
          <a:p>
            <a:endParaRPr lang="ru-RU" b="1">
              <a:cs typeface="Arial" charset="0"/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5148263" y="2109788"/>
            <a:ext cx="142875" cy="4175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47" name="Прямая соединительная линия 46"/>
          <p:cNvCxnSpPr/>
          <p:nvPr/>
        </p:nvCxnSpPr>
        <p:spPr>
          <a:xfrm flipV="1">
            <a:off x="5219700" y="3046413"/>
            <a:ext cx="71438" cy="215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5218113" y="3262313"/>
            <a:ext cx="0" cy="287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>
            <a:off x="5073650" y="3541713"/>
            <a:ext cx="28733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14" name="TextBox 49"/>
          <p:cNvSpPr txBox="1">
            <a:spLocks noChangeArrowheads="1"/>
          </p:cNvSpPr>
          <p:nvPr/>
        </p:nvSpPr>
        <p:spPr bwMode="auto">
          <a:xfrm>
            <a:off x="5411788" y="2543175"/>
            <a:ext cx="74453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5 В</a:t>
            </a:r>
          </a:p>
          <a:p>
            <a:r>
              <a:rPr lang="ru-RU" b="1">
                <a:cs typeface="Arial" charset="0"/>
              </a:rPr>
              <a:t>Кн</a:t>
            </a:r>
            <a:r>
              <a:rPr lang="en-US" b="1">
                <a:cs typeface="Arial" charset="0"/>
              </a:rPr>
              <a:t>=0</a:t>
            </a:r>
            <a:endParaRPr lang="ru-RU" b="1">
              <a:cs typeface="Arial" charset="0"/>
            </a:endParaRPr>
          </a:p>
        </p:txBody>
      </p:sp>
      <p:sp>
        <p:nvSpPr>
          <p:cNvPr id="16415" name="TextBox 50"/>
          <p:cNvSpPr txBox="1">
            <a:spLocks noChangeArrowheads="1"/>
          </p:cNvSpPr>
          <p:nvPr/>
        </p:nvSpPr>
        <p:spPr bwMode="auto">
          <a:xfrm>
            <a:off x="6213475" y="2582863"/>
            <a:ext cx="1231900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Ардуино</a:t>
            </a:r>
          </a:p>
          <a:p>
            <a:endParaRPr lang="en-US" b="1">
              <a:cs typeface="Arial" charset="0"/>
            </a:endParaRPr>
          </a:p>
        </p:txBody>
      </p:sp>
      <p:cxnSp>
        <p:nvCxnSpPr>
          <p:cNvPr id="52" name="Прямая соединительная линия 51"/>
          <p:cNvCxnSpPr/>
          <p:nvPr/>
        </p:nvCxnSpPr>
        <p:spPr>
          <a:xfrm>
            <a:off x="7445375" y="2814638"/>
            <a:ext cx="576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>
            <a:off x="7445375" y="3101975"/>
            <a:ext cx="10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>
            <a:off x="7556500" y="3101975"/>
            <a:ext cx="0" cy="504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>
            <a:off x="7408863" y="3605213"/>
            <a:ext cx="2889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57" idx="4"/>
          </p:cNvCxnSpPr>
          <p:nvPr/>
        </p:nvCxnSpPr>
        <p:spPr>
          <a:xfrm>
            <a:off x="8021638" y="1878013"/>
            <a:ext cx="0" cy="1223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Овал 56"/>
          <p:cNvSpPr/>
          <p:nvPr/>
        </p:nvSpPr>
        <p:spPr>
          <a:xfrm>
            <a:off x="7950200" y="1733550"/>
            <a:ext cx="142875" cy="1444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6422" name="TextBox 57"/>
          <p:cNvSpPr txBox="1">
            <a:spLocks noChangeArrowheads="1"/>
          </p:cNvSpPr>
          <p:nvPr/>
        </p:nvSpPr>
        <p:spPr bwMode="auto">
          <a:xfrm>
            <a:off x="8177213" y="1681163"/>
            <a:ext cx="7000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5 В</a:t>
            </a:r>
          </a:p>
          <a:p>
            <a:endParaRPr lang="ru-RU" b="1">
              <a:cs typeface="Arial" charset="0"/>
            </a:endParaRPr>
          </a:p>
        </p:txBody>
      </p:sp>
      <p:sp>
        <p:nvSpPr>
          <p:cNvPr id="59" name="Прямоугольник 58"/>
          <p:cNvSpPr/>
          <p:nvPr/>
        </p:nvSpPr>
        <p:spPr>
          <a:xfrm>
            <a:off x="7950200" y="2166938"/>
            <a:ext cx="142875" cy="415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60" name="Прямая соединительная линия 59"/>
          <p:cNvCxnSpPr/>
          <p:nvPr/>
        </p:nvCxnSpPr>
        <p:spPr>
          <a:xfrm flipV="1">
            <a:off x="8021638" y="3101975"/>
            <a:ext cx="1587" cy="215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>
            <a:off x="8020050" y="3317875"/>
            <a:ext cx="0" cy="287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7875588" y="3597275"/>
            <a:ext cx="28733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27" name="TextBox 62"/>
          <p:cNvSpPr txBox="1">
            <a:spLocks noChangeArrowheads="1"/>
          </p:cNvSpPr>
          <p:nvPr/>
        </p:nvSpPr>
        <p:spPr bwMode="auto">
          <a:xfrm>
            <a:off x="8213725" y="2600325"/>
            <a:ext cx="7429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0 В</a:t>
            </a:r>
          </a:p>
          <a:p>
            <a:r>
              <a:rPr lang="ru-RU" b="1">
                <a:cs typeface="Arial" charset="0"/>
              </a:rPr>
              <a:t>Кн</a:t>
            </a:r>
            <a:r>
              <a:rPr lang="en-US" b="1">
                <a:cs typeface="Arial" charset="0"/>
              </a:rPr>
              <a:t>=</a:t>
            </a:r>
            <a:r>
              <a:rPr lang="ru-RU" b="1">
                <a:cs typeface="Arial" charset="0"/>
              </a:rPr>
              <a:t>1</a:t>
            </a:r>
          </a:p>
        </p:txBody>
      </p:sp>
      <p:sp>
        <p:nvSpPr>
          <p:cNvPr id="16428" name="TextBox 64"/>
          <p:cNvSpPr txBox="1">
            <a:spLocks noChangeArrowheads="1"/>
          </p:cNvSpPr>
          <p:nvPr/>
        </p:nvSpPr>
        <p:spPr bwMode="auto">
          <a:xfrm>
            <a:off x="15875" y="3783013"/>
            <a:ext cx="83597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Схема 2. С подтягиванием к питанию одного выхода. Значение входа прямое по отношению к состоянии кнопки.</a:t>
            </a:r>
          </a:p>
        </p:txBody>
      </p:sp>
      <p:sp>
        <p:nvSpPr>
          <p:cNvPr id="16429" name="TextBox 65"/>
          <p:cNvSpPr txBox="1">
            <a:spLocks noChangeArrowheads="1"/>
          </p:cNvSpPr>
          <p:nvPr/>
        </p:nvSpPr>
        <p:spPr bwMode="auto">
          <a:xfrm>
            <a:off x="274638" y="5661025"/>
            <a:ext cx="2160587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Ардуино     Вход</a:t>
            </a:r>
          </a:p>
          <a:p>
            <a:r>
              <a:rPr lang="ru-RU">
                <a:latin typeface="Calibri" pitchFamily="34" charset="0"/>
              </a:rPr>
              <a:t>                      </a:t>
            </a:r>
            <a:r>
              <a:rPr lang="ru-RU" b="1">
                <a:cs typeface="Arial" charset="0"/>
              </a:rPr>
              <a:t>Земля</a:t>
            </a:r>
          </a:p>
        </p:txBody>
      </p:sp>
      <p:cxnSp>
        <p:nvCxnSpPr>
          <p:cNvPr id="67" name="Прямая соединительная линия 66"/>
          <p:cNvCxnSpPr/>
          <p:nvPr/>
        </p:nvCxnSpPr>
        <p:spPr>
          <a:xfrm>
            <a:off x="2435225" y="5892800"/>
            <a:ext cx="576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>
            <a:off x="2435225" y="6180138"/>
            <a:ext cx="10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>
            <a:off x="2544763" y="6180138"/>
            <a:ext cx="0" cy="504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2398713" y="6683375"/>
            <a:ext cx="28733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/>
          <p:cNvCxnSpPr>
            <a:stCxn id="72" idx="4"/>
          </p:cNvCxnSpPr>
          <p:nvPr/>
        </p:nvCxnSpPr>
        <p:spPr>
          <a:xfrm>
            <a:off x="3011488" y="4956175"/>
            <a:ext cx="11112" cy="447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Овал 71"/>
          <p:cNvSpPr/>
          <p:nvPr/>
        </p:nvSpPr>
        <p:spPr>
          <a:xfrm>
            <a:off x="2938463" y="4811713"/>
            <a:ext cx="144462" cy="144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6436" name="TextBox 72"/>
          <p:cNvSpPr txBox="1">
            <a:spLocks noChangeArrowheads="1"/>
          </p:cNvSpPr>
          <p:nvPr/>
        </p:nvSpPr>
        <p:spPr bwMode="auto">
          <a:xfrm>
            <a:off x="1582738" y="4737100"/>
            <a:ext cx="12969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           5 В</a:t>
            </a:r>
          </a:p>
        </p:txBody>
      </p:sp>
      <p:cxnSp>
        <p:nvCxnSpPr>
          <p:cNvPr id="76" name="Прямая соединительная линия 75"/>
          <p:cNvCxnSpPr/>
          <p:nvPr/>
        </p:nvCxnSpPr>
        <p:spPr>
          <a:xfrm>
            <a:off x="3008313" y="6396038"/>
            <a:ext cx="0" cy="287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>
            <a:off x="2879725" y="6683375"/>
            <a:ext cx="28733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9" name="TextBox 77"/>
          <p:cNvSpPr txBox="1">
            <a:spLocks noChangeArrowheads="1"/>
          </p:cNvSpPr>
          <p:nvPr/>
        </p:nvSpPr>
        <p:spPr bwMode="auto">
          <a:xfrm>
            <a:off x="3448050" y="5657850"/>
            <a:ext cx="12319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Ардуино</a:t>
            </a:r>
            <a:endParaRPr lang="en-US" b="1">
              <a:cs typeface="Arial" charset="0"/>
            </a:endParaRPr>
          </a:p>
        </p:txBody>
      </p:sp>
      <p:cxnSp>
        <p:nvCxnSpPr>
          <p:cNvPr id="79" name="Прямая соединительная линия 78"/>
          <p:cNvCxnSpPr/>
          <p:nvPr/>
        </p:nvCxnSpPr>
        <p:spPr>
          <a:xfrm>
            <a:off x="4679950" y="5889625"/>
            <a:ext cx="576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4679950" y="6176963"/>
            <a:ext cx="10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/>
          <p:nvPr/>
        </p:nvCxnSpPr>
        <p:spPr>
          <a:xfrm>
            <a:off x="4789488" y="6176963"/>
            <a:ext cx="0" cy="504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/>
          <p:nvPr/>
        </p:nvCxnSpPr>
        <p:spPr>
          <a:xfrm>
            <a:off x="4643438" y="6680200"/>
            <a:ext cx="2889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>
            <a:stCxn id="84" idx="4"/>
          </p:cNvCxnSpPr>
          <p:nvPr/>
        </p:nvCxnSpPr>
        <p:spPr>
          <a:xfrm>
            <a:off x="5256213" y="4953000"/>
            <a:ext cx="12700" cy="531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Овал 83"/>
          <p:cNvSpPr/>
          <p:nvPr/>
        </p:nvSpPr>
        <p:spPr>
          <a:xfrm>
            <a:off x="5183188" y="4810125"/>
            <a:ext cx="144462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6446" name="TextBox 84"/>
          <p:cNvSpPr txBox="1">
            <a:spLocks noChangeArrowheads="1"/>
          </p:cNvSpPr>
          <p:nvPr/>
        </p:nvSpPr>
        <p:spPr bwMode="auto">
          <a:xfrm>
            <a:off x="5411788" y="4756150"/>
            <a:ext cx="70008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5 В</a:t>
            </a:r>
          </a:p>
          <a:p>
            <a:endParaRPr lang="ru-RU" b="1">
              <a:cs typeface="Arial" charset="0"/>
            </a:endParaRPr>
          </a:p>
        </p:txBody>
      </p:sp>
      <p:cxnSp>
        <p:nvCxnSpPr>
          <p:cNvPr id="87" name="Прямая соединительная линия 86"/>
          <p:cNvCxnSpPr/>
          <p:nvPr/>
        </p:nvCxnSpPr>
        <p:spPr>
          <a:xfrm>
            <a:off x="5253038" y="5484813"/>
            <a:ext cx="87312" cy="266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/>
          <p:cNvCxnSpPr/>
          <p:nvPr/>
        </p:nvCxnSpPr>
        <p:spPr>
          <a:xfrm>
            <a:off x="5253038" y="5715000"/>
            <a:ext cx="0" cy="965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единительная линия 88"/>
          <p:cNvCxnSpPr/>
          <p:nvPr/>
        </p:nvCxnSpPr>
        <p:spPr>
          <a:xfrm>
            <a:off x="5110163" y="6673850"/>
            <a:ext cx="28733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50" name="TextBox 89"/>
          <p:cNvSpPr txBox="1">
            <a:spLocks noChangeArrowheads="1"/>
          </p:cNvSpPr>
          <p:nvPr/>
        </p:nvSpPr>
        <p:spPr bwMode="auto">
          <a:xfrm>
            <a:off x="5411788" y="5427663"/>
            <a:ext cx="74453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Кн</a:t>
            </a:r>
            <a:r>
              <a:rPr lang="en-US" b="1">
                <a:cs typeface="Arial" charset="0"/>
              </a:rPr>
              <a:t>=0</a:t>
            </a:r>
            <a:endParaRPr lang="ru-RU" b="1">
              <a:cs typeface="Arial" charset="0"/>
            </a:endParaRPr>
          </a:p>
          <a:p>
            <a:r>
              <a:rPr lang="ru-RU" b="1">
                <a:cs typeface="Arial" charset="0"/>
              </a:rPr>
              <a:t>0 В</a:t>
            </a:r>
          </a:p>
        </p:txBody>
      </p:sp>
      <p:sp>
        <p:nvSpPr>
          <p:cNvPr id="16451" name="TextBox 90"/>
          <p:cNvSpPr txBox="1">
            <a:spLocks noChangeArrowheads="1"/>
          </p:cNvSpPr>
          <p:nvPr/>
        </p:nvSpPr>
        <p:spPr bwMode="auto">
          <a:xfrm>
            <a:off x="6249988" y="5715000"/>
            <a:ext cx="12319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Ардуино</a:t>
            </a:r>
          </a:p>
          <a:p>
            <a:endParaRPr lang="en-US" b="1">
              <a:cs typeface="Arial" charset="0"/>
            </a:endParaRPr>
          </a:p>
        </p:txBody>
      </p:sp>
      <p:cxnSp>
        <p:nvCxnSpPr>
          <p:cNvPr id="92" name="Прямая соединительная линия 91"/>
          <p:cNvCxnSpPr/>
          <p:nvPr/>
        </p:nvCxnSpPr>
        <p:spPr>
          <a:xfrm>
            <a:off x="7481888" y="5945188"/>
            <a:ext cx="576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единительная линия 92"/>
          <p:cNvCxnSpPr/>
          <p:nvPr/>
        </p:nvCxnSpPr>
        <p:spPr>
          <a:xfrm>
            <a:off x="7481888" y="6234113"/>
            <a:ext cx="10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/>
          <p:cNvCxnSpPr/>
          <p:nvPr/>
        </p:nvCxnSpPr>
        <p:spPr>
          <a:xfrm>
            <a:off x="7591425" y="6234113"/>
            <a:ext cx="0" cy="503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единительная линия 94"/>
          <p:cNvCxnSpPr/>
          <p:nvPr/>
        </p:nvCxnSpPr>
        <p:spPr>
          <a:xfrm>
            <a:off x="7445375" y="6737350"/>
            <a:ext cx="2889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>
            <a:stCxn id="97" idx="4"/>
          </p:cNvCxnSpPr>
          <p:nvPr/>
        </p:nvCxnSpPr>
        <p:spPr>
          <a:xfrm>
            <a:off x="8058150" y="5010150"/>
            <a:ext cx="0" cy="12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Овал 96"/>
          <p:cNvSpPr/>
          <p:nvPr/>
        </p:nvSpPr>
        <p:spPr>
          <a:xfrm>
            <a:off x="7985125" y="4865688"/>
            <a:ext cx="144463" cy="144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6458" name="TextBox 97"/>
          <p:cNvSpPr txBox="1">
            <a:spLocks noChangeArrowheads="1"/>
          </p:cNvSpPr>
          <p:nvPr/>
        </p:nvSpPr>
        <p:spPr bwMode="auto">
          <a:xfrm>
            <a:off x="8213725" y="4813300"/>
            <a:ext cx="7000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5 В</a:t>
            </a:r>
          </a:p>
          <a:p>
            <a:endParaRPr lang="ru-RU" b="1">
              <a:cs typeface="Arial" charset="0"/>
            </a:endParaRPr>
          </a:p>
        </p:txBody>
      </p:sp>
      <p:cxnSp>
        <p:nvCxnSpPr>
          <p:cNvPr id="100" name="Прямая соединительная линия 99"/>
          <p:cNvCxnSpPr/>
          <p:nvPr/>
        </p:nvCxnSpPr>
        <p:spPr>
          <a:xfrm flipV="1">
            <a:off x="8058150" y="6232525"/>
            <a:ext cx="1588" cy="217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/>
          <p:cNvCxnSpPr/>
          <p:nvPr/>
        </p:nvCxnSpPr>
        <p:spPr>
          <a:xfrm>
            <a:off x="8054975" y="6450013"/>
            <a:ext cx="0" cy="287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/>
          <p:nvPr/>
        </p:nvCxnSpPr>
        <p:spPr>
          <a:xfrm>
            <a:off x="7910513" y="6729413"/>
            <a:ext cx="2889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62" name="TextBox 102"/>
          <p:cNvSpPr txBox="1">
            <a:spLocks noChangeArrowheads="1"/>
          </p:cNvSpPr>
          <p:nvPr/>
        </p:nvSpPr>
        <p:spPr bwMode="auto">
          <a:xfrm>
            <a:off x="8191500" y="5243513"/>
            <a:ext cx="744538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Кн</a:t>
            </a:r>
            <a:r>
              <a:rPr lang="en-US" b="1">
                <a:cs typeface="Arial" charset="0"/>
              </a:rPr>
              <a:t>=</a:t>
            </a:r>
            <a:r>
              <a:rPr lang="ru-RU" b="1">
                <a:cs typeface="Arial" charset="0"/>
              </a:rPr>
              <a:t>1</a:t>
            </a:r>
          </a:p>
          <a:p>
            <a:r>
              <a:rPr lang="ru-RU" b="1">
                <a:cs typeface="Arial" charset="0"/>
              </a:rPr>
              <a:t>5 В</a:t>
            </a:r>
          </a:p>
        </p:txBody>
      </p:sp>
      <p:sp>
        <p:nvSpPr>
          <p:cNvPr id="74" name="Прямоугольник 73"/>
          <p:cNvSpPr/>
          <p:nvPr/>
        </p:nvSpPr>
        <p:spPr>
          <a:xfrm>
            <a:off x="2938463" y="6057900"/>
            <a:ext cx="144462" cy="417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106" name="Прямая соединительная линия 105"/>
          <p:cNvCxnSpPr/>
          <p:nvPr/>
        </p:nvCxnSpPr>
        <p:spPr>
          <a:xfrm>
            <a:off x="3016250" y="5403850"/>
            <a:ext cx="66675" cy="161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единительная линия 107"/>
          <p:cNvCxnSpPr/>
          <p:nvPr/>
        </p:nvCxnSpPr>
        <p:spPr>
          <a:xfrm>
            <a:off x="3022600" y="5611813"/>
            <a:ext cx="3175" cy="466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66" name="TextBox 109"/>
          <p:cNvSpPr txBox="1">
            <a:spLocks noChangeArrowheads="1"/>
          </p:cNvSpPr>
          <p:nvPr/>
        </p:nvSpPr>
        <p:spPr bwMode="auto">
          <a:xfrm>
            <a:off x="3057525" y="6305550"/>
            <a:ext cx="12969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cs typeface="Arial" charset="0"/>
              </a:rPr>
              <a:t>R=1…20 </a:t>
            </a:r>
            <a:r>
              <a:rPr lang="ru-RU" b="1">
                <a:cs typeface="Arial" charset="0"/>
              </a:rPr>
              <a:t>к</a:t>
            </a:r>
          </a:p>
        </p:txBody>
      </p:sp>
      <p:sp>
        <p:nvSpPr>
          <p:cNvPr id="99" name="Прямоугольник 98"/>
          <p:cNvSpPr/>
          <p:nvPr/>
        </p:nvSpPr>
        <p:spPr>
          <a:xfrm>
            <a:off x="7983538" y="6119813"/>
            <a:ext cx="144462" cy="4175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86" name="Прямоугольник 85"/>
          <p:cNvSpPr/>
          <p:nvPr/>
        </p:nvSpPr>
        <p:spPr>
          <a:xfrm>
            <a:off x="5183188" y="6024563"/>
            <a:ext cx="144462" cy="4175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C9E91-6A18-4F74-8B02-13DD1148934E}" type="slidenum">
              <a:rPr lang="ru-RU"/>
              <a:pPr>
                <a:defRPr/>
              </a:pPr>
              <a:t>4</a:t>
            </a:fld>
            <a:endParaRPr lang="ru-RU"/>
          </a:p>
        </p:txBody>
      </p:sp>
      <p:sp>
        <p:nvSpPr>
          <p:cNvPr id="12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B4E654F-650F-482F-B3F4-C1FD3B748807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D02CA2B-D581-4001-A37B-51876E1EF7DD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28575" y="4454525"/>
            <a:ext cx="9115425" cy="2403475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Как исключить вариант, что кнопку нажали и отпустили много раз подряд?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Считывать состояние не чаще длительности дребезга контактов. В этом случае вероятность попасть в момент дребезга контактов будет 1/20. Для этого между считыванием делать задержки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delay(50)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Но все же такое может случиться.</a:t>
            </a:r>
          </a:p>
          <a:p>
            <a:pPr marL="457200" indent="-45720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437" name="Объект 4"/>
          <p:cNvPicPr>
            <a:picLocks noChangeAspect="1" noChangeArrowheads="1"/>
          </p:cNvPicPr>
          <p:nvPr/>
        </p:nvPicPr>
        <p:blipFill>
          <a:blip r:embed="rId2"/>
          <a:srcRect l="4971" t="8009" r="6200" b="17604"/>
          <a:stretch>
            <a:fillRect/>
          </a:stretch>
        </p:blipFill>
        <p:spPr bwMode="auto">
          <a:xfrm>
            <a:off x="28575" y="-50800"/>
            <a:ext cx="6659563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Прямая со стрелкой 9"/>
          <p:cNvCxnSpPr/>
          <p:nvPr/>
        </p:nvCxnSpPr>
        <p:spPr>
          <a:xfrm>
            <a:off x="3779838" y="4187825"/>
            <a:ext cx="50482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4284663" y="4187825"/>
            <a:ext cx="1150937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5435600" y="4187825"/>
            <a:ext cx="50482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1" name="TextBox 17"/>
          <p:cNvSpPr txBox="1">
            <a:spLocks noChangeArrowheads="1"/>
          </p:cNvSpPr>
          <p:nvPr/>
        </p:nvSpPr>
        <p:spPr bwMode="auto">
          <a:xfrm>
            <a:off x="3546475" y="3783013"/>
            <a:ext cx="10080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50 мс</a:t>
            </a:r>
          </a:p>
        </p:txBody>
      </p:sp>
      <p:sp>
        <p:nvSpPr>
          <p:cNvPr id="18442" name="TextBox 18"/>
          <p:cNvSpPr txBox="1">
            <a:spLocks noChangeArrowheads="1"/>
          </p:cNvSpPr>
          <p:nvPr/>
        </p:nvSpPr>
        <p:spPr bwMode="auto">
          <a:xfrm>
            <a:off x="5407025" y="3736975"/>
            <a:ext cx="1008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50 мс</a:t>
            </a:r>
          </a:p>
        </p:txBody>
      </p:sp>
      <p:sp>
        <p:nvSpPr>
          <p:cNvPr id="18443" name="TextBox 19"/>
          <p:cNvSpPr txBox="1">
            <a:spLocks noChangeArrowheads="1"/>
          </p:cNvSpPr>
          <p:nvPr/>
        </p:nvSpPr>
        <p:spPr bwMode="auto">
          <a:xfrm>
            <a:off x="4427538" y="3768725"/>
            <a:ext cx="1008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b="1">
                <a:cs typeface="Arial" charset="0"/>
              </a:rPr>
              <a:t>1 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4F3DD2-B7C4-46F4-8EC9-3469673E8801}" type="slidenum">
              <a:rPr lang="ru-RU"/>
              <a:pPr>
                <a:defRPr/>
              </a:pPr>
              <a:t>5</a:t>
            </a:fld>
            <a:endParaRPr lang="ru-RU"/>
          </a:p>
        </p:txBody>
      </p:sp>
      <p:sp>
        <p:nvSpPr>
          <p:cNvPr id="5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A2B34A3-7CB9-44C3-937A-FD46682A721F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9459" name="Заголовок 1"/>
          <p:cNvSpPr>
            <a:spLocks noGrp="1"/>
          </p:cNvSpPr>
          <p:nvPr>
            <p:ph type="title"/>
          </p:nvPr>
        </p:nvSpPr>
        <p:spPr>
          <a:xfrm>
            <a:off x="4763" y="0"/>
            <a:ext cx="9144000" cy="1341438"/>
          </a:xfrm>
        </p:spPr>
        <p:txBody>
          <a:bodyPr/>
          <a:lstStyle/>
          <a:p>
            <a:pPr eaLnBrk="1" hangingPunct="1"/>
            <a:r>
              <a:rPr lang="ru-RU" sz="3200" b="1" smtClean="0">
                <a:latin typeface="Arial" charset="0"/>
                <a:cs typeface="Arial" charset="0"/>
              </a:rPr>
              <a:t>Борьба с дребезгом контактов</a:t>
            </a:r>
            <a:br>
              <a:rPr lang="ru-RU" sz="3200" b="1" smtClean="0">
                <a:latin typeface="Arial" charset="0"/>
                <a:cs typeface="Arial" charset="0"/>
              </a:rPr>
            </a:br>
            <a:r>
              <a:rPr lang="ru-RU" sz="3200" b="1" smtClean="0">
                <a:latin typeface="Arial" charset="0"/>
                <a:cs typeface="Arial" charset="0"/>
              </a:rPr>
              <a:t>путем двойного считывания порта с задержкой </a:t>
            </a:r>
            <a:endParaRPr lang="ru-RU" sz="3200" smtClean="0"/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5D72011-9227-4C2D-AA9B-10AADFCA8BED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9461" name="Прямоугольник 4"/>
          <p:cNvSpPr>
            <a:spLocks noChangeArrowheads="1"/>
          </p:cNvSpPr>
          <p:nvPr/>
        </p:nvSpPr>
        <p:spPr bwMode="auto">
          <a:xfrm>
            <a:off x="0" y="1773238"/>
            <a:ext cx="9139238" cy="437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 err="1">
                <a:cs typeface="Arial" charset="0"/>
              </a:rPr>
              <a:t>int</a:t>
            </a:r>
            <a:r>
              <a:rPr lang="en-US" sz="2000" b="1" dirty="0">
                <a:cs typeface="Arial" charset="0"/>
              </a:rPr>
              <a:t> 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 = 3;</a:t>
            </a:r>
          </a:p>
          <a:p>
            <a:endParaRPr lang="en-US" sz="2000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void setup(){</a:t>
            </a:r>
            <a:r>
              <a:rPr lang="en-US" sz="2000" b="1" dirty="0" err="1">
                <a:cs typeface="Arial" charset="0"/>
              </a:rPr>
              <a:t>Serial.begin</a:t>
            </a:r>
            <a:r>
              <a:rPr lang="en-US" sz="2000" b="1" dirty="0">
                <a:cs typeface="Arial" charset="0"/>
              </a:rPr>
              <a:t>(9600); </a:t>
            </a:r>
            <a:r>
              <a:rPr lang="en-US" sz="2000" b="1" dirty="0" err="1">
                <a:cs typeface="Arial" charset="0"/>
              </a:rPr>
              <a:t>pinMode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, INPUT);}</a:t>
            </a:r>
            <a:endParaRPr lang="ru-RU" sz="2000" b="1" dirty="0">
              <a:cs typeface="Arial" charset="0"/>
            </a:endParaRPr>
          </a:p>
          <a:p>
            <a:endParaRPr lang="en-US" sz="2000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void loop(){ 	</a:t>
            </a:r>
          </a:p>
          <a:p>
            <a:r>
              <a:rPr lang="ru-RU" sz="2000" b="1" dirty="0">
                <a:cs typeface="Arial" charset="0"/>
              </a:rPr>
              <a:t>   </a:t>
            </a:r>
            <a:r>
              <a:rPr lang="en-US" sz="2000" b="1" dirty="0">
                <a:cs typeface="Arial" charset="0"/>
              </a:rPr>
              <a:t>if (</a:t>
            </a:r>
            <a:r>
              <a:rPr lang="en-US" sz="2000" b="1" dirty="0" err="1">
                <a:cs typeface="Arial" charset="0"/>
              </a:rPr>
              <a:t>digitalRead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)==HIGH) {//1</a:t>
            </a:r>
          </a:p>
          <a:p>
            <a:r>
              <a:rPr lang="en-US" sz="2000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Если кнопка нажата, то проверяем будет ли она нажата через 50 </a:t>
            </a:r>
            <a:r>
              <a:rPr lang="ru-RU" b="1" i="1" dirty="0" err="1">
                <a:solidFill>
                  <a:srgbClr val="00B050"/>
                </a:solidFill>
                <a:cs typeface="Arial" charset="0"/>
              </a:rPr>
              <a:t>мс</a:t>
            </a:r>
            <a:endParaRPr lang="en-US" b="1" i="1" dirty="0">
              <a:solidFill>
                <a:srgbClr val="00B050"/>
              </a:solidFill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       </a:t>
            </a:r>
            <a:endParaRPr lang="ru-RU" sz="2000" b="1" dirty="0">
              <a:cs typeface="Arial" charset="0"/>
            </a:endParaRPr>
          </a:p>
          <a:p>
            <a:r>
              <a:rPr lang="ru-RU" sz="2000" b="1" dirty="0">
                <a:cs typeface="Arial" charset="0"/>
              </a:rPr>
              <a:t>       </a:t>
            </a:r>
            <a:r>
              <a:rPr lang="en-US" sz="2000" b="1" dirty="0">
                <a:cs typeface="Arial" charset="0"/>
              </a:rPr>
              <a:t>delay(</a:t>
            </a:r>
            <a:r>
              <a:rPr lang="ru-RU" sz="2000" b="1" dirty="0">
                <a:cs typeface="Arial" charset="0"/>
              </a:rPr>
              <a:t>50</a:t>
            </a:r>
            <a:r>
              <a:rPr lang="en-US" sz="2000" b="1" dirty="0">
                <a:cs typeface="Arial" charset="0"/>
              </a:rPr>
              <a:t>);</a:t>
            </a:r>
            <a:r>
              <a:rPr lang="en-US" b="1" dirty="0">
                <a:cs typeface="Arial" charset="0"/>
              </a:rPr>
              <a:t>//</a:t>
            </a:r>
            <a:r>
              <a:rPr lang="ru-RU" b="1" dirty="0">
                <a:cs typeface="Arial" charset="0"/>
              </a:rPr>
              <a:t>Ждем </a:t>
            </a:r>
            <a:r>
              <a:rPr lang="ru-RU" b="1" i="1" dirty="0">
                <a:cs typeface="Arial" charset="0"/>
              </a:rPr>
              <a:t>50 </a:t>
            </a:r>
            <a:r>
              <a:rPr lang="ru-RU" b="1" i="1" dirty="0" err="1">
                <a:cs typeface="Arial" charset="0"/>
              </a:rPr>
              <a:t>мс</a:t>
            </a:r>
            <a:endParaRPr lang="en-US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  </a:t>
            </a:r>
            <a:endParaRPr lang="ru-RU" sz="2000" b="1" dirty="0">
              <a:cs typeface="Arial" charset="0"/>
            </a:endParaRPr>
          </a:p>
          <a:p>
            <a:r>
              <a:rPr lang="ru-RU" sz="2000" b="1" dirty="0">
                <a:cs typeface="Arial" charset="0"/>
              </a:rPr>
              <a:t>     </a:t>
            </a:r>
            <a:r>
              <a:rPr lang="en-US" sz="2000" b="1" dirty="0">
                <a:cs typeface="Arial" charset="0"/>
              </a:rPr>
              <a:t>if(</a:t>
            </a:r>
            <a:r>
              <a:rPr lang="en-US" sz="2000" b="1" dirty="0" err="1">
                <a:cs typeface="Arial" charset="0"/>
              </a:rPr>
              <a:t>digitalRead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)==HIGH) </a:t>
            </a:r>
            <a:r>
              <a:rPr lang="en-US" sz="2000" b="1" dirty="0" err="1">
                <a:cs typeface="Arial" charset="0"/>
              </a:rPr>
              <a:t>serialWrite</a:t>
            </a:r>
            <a:r>
              <a:rPr lang="en-US" sz="2000" b="1" dirty="0">
                <a:cs typeface="Arial" charset="0"/>
              </a:rPr>
              <a:t>('H');</a:t>
            </a:r>
            <a:endParaRPr lang="ru-RU" sz="2000" b="1" dirty="0">
              <a:cs typeface="Arial" charset="0"/>
            </a:endParaRPr>
          </a:p>
          <a:p>
            <a:r>
              <a:rPr lang="ru-RU" b="1" i="1" dirty="0">
                <a:solidFill>
                  <a:srgbClr val="00B050"/>
                </a:solidFill>
                <a:cs typeface="Arial" charset="0"/>
              </a:rPr>
              <a:t>//Если кнопка через 50 </a:t>
            </a:r>
            <a:r>
              <a:rPr lang="ru-RU" b="1" i="1" dirty="0" err="1">
                <a:solidFill>
                  <a:srgbClr val="00B050"/>
                </a:solidFill>
                <a:cs typeface="Arial" charset="0"/>
              </a:rPr>
              <a:t>мс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 также нажата, то пишем в послед. порт </a:t>
            </a:r>
            <a:r>
              <a:rPr lang="en-US" b="1" i="1" dirty="0">
                <a:solidFill>
                  <a:srgbClr val="00B050"/>
                </a:solidFill>
                <a:cs typeface="Arial" charset="0"/>
              </a:rPr>
              <a:t>'H‘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.</a:t>
            </a:r>
            <a:endParaRPr lang="en-US" b="1" i="1" dirty="0">
              <a:solidFill>
                <a:srgbClr val="00B050"/>
              </a:solidFill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 	                                                }//1</a:t>
            </a:r>
            <a:endParaRPr lang="ru-RU" sz="2000" b="1" dirty="0">
              <a:cs typeface="Arial" charset="0"/>
            </a:endParaRPr>
          </a:p>
          <a:p>
            <a:r>
              <a:rPr lang="ru-RU" sz="2000" b="1" dirty="0">
                <a:cs typeface="Arial" charset="0"/>
              </a:rPr>
              <a:t>                   </a:t>
            </a:r>
            <a:r>
              <a:rPr lang="en-US" sz="2000" b="1" dirty="0">
                <a:cs typeface="Arial" charset="0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B74E2F-001A-41BD-8ED7-348FE185CBFD}" type="slidenum">
              <a:rPr lang="ru-RU"/>
              <a:pPr>
                <a:defRPr/>
              </a:pPr>
              <a:t>6</a:t>
            </a:fld>
            <a:endParaRPr lang="ru-RU"/>
          </a:p>
        </p:txBody>
      </p:sp>
      <p:sp>
        <p:nvSpPr>
          <p:cNvPr id="18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7723EE2-D19C-412F-B2D8-897A87A02576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1507" name="Заголовок 1"/>
          <p:cNvSpPr>
            <a:spLocks noGrp="1"/>
          </p:cNvSpPr>
          <p:nvPr>
            <p:ph type="title"/>
          </p:nvPr>
        </p:nvSpPr>
        <p:spPr>
          <a:xfrm>
            <a:off x="25400" y="4763"/>
            <a:ext cx="9144000" cy="615950"/>
          </a:xfrm>
        </p:spPr>
        <p:txBody>
          <a:bodyPr/>
          <a:lstStyle/>
          <a:p>
            <a:pPr eaLnBrk="1" hangingPunct="1"/>
            <a:r>
              <a:rPr lang="ru-RU" sz="3200" b="1" smtClean="0">
                <a:latin typeface="Arial" charset="0"/>
                <a:cs typeface="Arial" charset="0"/>
              </a:rPr>
              <a:t>Варианты реакции на нажатие кнопки</a:t>
            </a: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2FD7B9D-AB5A-4970-B7E5-6992F5F75529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981075"/>
            <a:ext cx="795655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 уровню.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Состояния: нажата (1) или не нажата (0)</a:t>
            </a:r>
          </a:p>
        </p:txBody>
      </p:sp>
      <p:sp>
        <p:nvSpPr>
          <p:cNvPr id="21510" name="TextBox 6"/>
          <p:cNvSpPr txBox="1">
            <a:spLocks noChangeArrowheads="1"/>
          </p:cNvSpPr>
          <p:nvPr/>
        </p:nvSpPr>
        <p:spPr bwMode="auto">
          <a:xfrm>
            <a:off x="25400" y="1741488"/>
            <a:ext cx="8939213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2. По фронту.</a:t>
            </a:r>
          </a:p>
          <a:p>
            <a:r>
              <a:rPr lang="ru-RU" sz="2000" b="1">
                <a:cs typeface="Arial" charset="0"/>
              </a:rPr>
              <a:t>Состояния: за период опроса нажали (восходящий фронт из 0 в 1) или отпустили (падающий фронт из 1 в 0)</a:t>
            </a:r>
          </a:p>
        </p:txBody>
      </p:sp>
      <p:sp>
        <p:nvSpPr>
          <p:cNvPr id="21511" name="TextBox 7"/>
          <p:cNvSpPr txBox="1">
            <a:spLocks noChangeArrowheads="1"/>
          </p:cNvSpPr>
          <p:nvPr/>
        </p:nvSpPr>
        <p:spPr bwMode="auto">
          <a:xfrm>
            <a:off x="0" y="2860675"/>
            <a:ext cx="9144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3. По импульсу.</a:t>
            </a:r>
          </a:p>
          <a:p>
            <a:r>
              <a:rPr lang="ru-RU" sz="2000" b="1">
                <a:cs typeface="Arial" charset="0"/>
              </a:rPr>
              <a:t>Состояния: за период опроса нажали и затем отпустили</a:t>
            </a:r>
          </a:p>
          <a:p>
            <a:r>
              <a:rPr lang="ru-RU" sz="2000" b="1">
                <a:cs typeface="Arial" charset="0"/>
              </a:rPr>
              <a:t>(смена состояний из 0 в 1 и затем опять в 0)</a:t>
            </a:r>
          </a:p>
        </p:txBody>
      </p:sp>
      <p:cxnSp>
        <p:nvCxnSpPr>
          <p:cNvPr id="10" name="Соединительная линия уступом 9"/>
          <p:cNvCxnSpPr/>
          <p:nvPr/>
        </p:nvCxnSpPr>
        <p:spPr>
          <a:xfrm>
            <a:off x="3779838" y="4592638"/>
            <a:ext cx="3095625" cy="8636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3779838" y="4592638"/>
            <a:ext cx="0" cy="86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132138" y="5456238"/>
            <a:ext cx="647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5" name="TextBox 24"/>
          <p:cNvSpPr txBox="1">
            <a:spLocks noChangeArrowheads="1"/>
          </p:cNvSpPr>
          <p:nvPr/>
        </p:nvSpPr>
        <p:spPr bwMode="auto">
          <a:xfrm>
            <a:off x="2916238" y="4000500"/>
            <a:ext cx="3168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Уровень 1 = </a:t>
            </a:r>
            <a:r>
              <a:rPr lang="en-US" sz="2000" b="1">
                <a:cs typeface="Arial" charset="0"/>
              </a:rPr>
              <a:t>HIGH</a:t>
            </a:r>
            <a:r>
              <a:rPr lang="ru-RU" sz="2000" b="1">
                <a:cs typeface="Arial" charset="0"/>
              </a:rPr>
              <a:t> = 5 в</a:t>
            </a:r>
          </a:p>
        </p:txBody>
      </p:sp>
      <p:sp>
        <p:nvSpPr>
          <p:cNvPr id="21516" name="TextBox 25"/>
          <p:cNvSpPr txBox="1">
            <a:spLocks noChangeArrowheads="1"/>
          </p:cNvSpPr>
          <p:nvPr/>
        </p:nvSpPr>
        <p:spPr bwMode="auto">
          <a:xfrm>
            <a:off x="107950" y="5024438"/>
            <a:ext cx="3095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Уровень 0</a:t>
            </a:r>
            <a:r>
              <a:rPr lang="en-US" sz="2000" b="1">
                <a:cs typeface="Arial" charset="0"/>
              </a:rPr>
              <a:t> = LOW</a:t>
            </a:r>
            <a:r>
              <a:rPr lang="ru-RU" sz="2000" b="1">
                <a:cs typeface="Arial" charset="0"/>
              </a:rPr>
              <a:t> = 0 в</a:t>
            </a:r>
          </a:p>
        </p:txBody>
      </p:sp>
      <p:sp>
        <p:nvSpPr>
          <p:cNvPr id="21517" name="TextBox 26"/>
          <p:cNvSpPr txBox="1">
            <a:spLocks noChangeArrowheads="1"/>
          </p:cNvSpPr>
          <p:nvPr/>
        </p:nvSpPr>
        <p:spPr bwMode="auto">
          <a:xfrm>
            <a:off x="1763713" y="5602288"/>
            <a:ext cx="2730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Восходящий фронт</a:t>
            </a:r>
          </a:p>
        </p:txBody>
      </p:sp>
      <p:sp>
        <p:nvSpPr>
          <p:cNvPr id="21518" name="TextBox 27"/>
          <p:cNvSpPr txBox="1">
            <a:spLocks noChangeArrowheads="1"/>
          </p:cNvSpPr>
          <p:nvPr/>
        </p:nvSpPr>
        <p:spPr bwMode="auto">
          <a:xfrm>
            <a:off x="4572000" y="5602288"/>
            <a:ext cx="2663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Падающий фронт</a:t>
            </a:r>
          </a:p>
        </p:txBody>
      </p:sp>
      <p:cxnSp>
        <p:nvCxnSpPr>
          <p:cNvPr id="30" name="Прямая со стрелкой 29"/>
          <p:cNvCxnSpPr/>
          <p:nvPr/>
        </p:nvCxnSpPr>
        <p:spPr>
          <a:xfrm flipV="1">
            <a:off x="3924300" y="4737100"/>
            <a:ext cx="0" cy="576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5148263" y="4737100"/>
            <a:ext cx="0" cy="687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>
            <a:off x="3348038" y="6165850"/>
            <a:ext cx="2160587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22" name="TextBox 38"/>
          <p:cNvSpPr txBox="1">
            <a:spLocks noChangeArrowheads="1"/>
          </p:cNvSpPr>
          <p:nvPr/>
        </p:nvSpPr>
        <p:spPr bwMode="auto">
          <a:xfrm>
            <a:off x="3743325" y="6356350"/>
            <a:ext cx="13684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Импульс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4CBF85-C213-45E3-9916-06B9C05AC9D3}" type="slidenum">
              <a:rPr lang="ru-RU"/>
              <a:pPr>
                <a:defRPr/>
              </a:pPr>
              <a:t>7</a:t>
            </a:fld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44A4481-C1FB-4A3C-89C6-64CE41A7C7EE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92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 вариантов нажатия кнопки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B753503-D377-4E20-9CCE-EA6E7639A47E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92150"/>
            <a:ext cx="795655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 уровню.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Состояния: нажата (1) или не нажата (0)</a:t>
            </a:r>
          </a:p>
        </p:txBody>
      </p:sp>
      <p:sp>
        <p:nvSpPr>
          <p:cNvPr id="22534" name="Прямоугольник 5"/>
          <p:cNvSpPr>
            <a:spLocks noChangeArrowheads="1"/>
          </p:cNvSpPr>
          <p:nvPr/>
        </p:nvSpPr>
        <p:spPr bwMode="auto">
          <a:xfrm>
            <a:off x="-3175" y="1874838"/>
            <a:ext cx="9144000" cy="467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 dirty="0">
                <a:cs typeface="Arial" charset="0"/>
              </a:rPr>
              <a:t>Программная реализация</a:t>
            </a:r>
          </a:p>
          <a:p>
            <a:endParaRPr lang="ru-RU" sz="2000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if (</a:t>
            </a:r>
            <a:r>
              <a:rPr lang="en-US" sz="2000" b="1" dirty="0" err="1">
                <a:cs typeface="Arial" charset="0"/>
              </a:rPr>
              <a:t>digitalRead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) == HIGH) </a:t>
            </a:r>
            <a:r>
              <a:rPr lang="en-US" sz="2000" b="1" dirty="0" err="1">
                <a:cs typeface="Arial" charset="0"/>
              </a:rPr>
              <a:t>serialWrite</a:t>
            </a:r>
            <a:r>
              <a:rPr lang="en-US" sz="2000" b="1" dirty="0">
                <a:cs typeface="Arial" charset="0"/>
              </a:rPr>
              <a:t>('H')</a:t>
            </a:r>
            <a:endParaRPr lang="ru-RU" sz="2000" b="1" dirty="0">
              <a:cs typeface="Arial" charset="0"/>
            </a:endParaRPr>
          </a:p>
          <a:p>
            <a:r>
              <a:rPr lang="ru-RU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Если кнопка на ножке </a:t>
            </a:r>
            <a:r>
              <a:rPr lang="en-US" b="1" dirty="0" err="1">
                <a:solidFill>
                  <a:srgbClr val="00B050"/>
                </a:solidFill>
                <a:cs typeface="Arial" charset="0"/>
              </a:rPr>
              <a:t>buttonPin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нажата, то в последовательный порт отправляем символ </a:t>
            </a:r>
            <a:r>
              <a:rPr lang="en-US" b="1" dirty="0">
                <a:solidFill>
                  <a:srgbClr val="00B050"/>
                </a:solidFill>
                <a:cs typeface="Arial" charset="0"/>
              </a:rPr>
              <a:t>'H‘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.</a:t>
            </a:r>
          </a:p>
          <a:p>
            <a:endParaRPr lang="ru-RU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       else </a:t>
            </a:r>
            <a:r>
              <a:rPr lang="en-US" sz="2000" b="1" dirty="0" err="1">
                <a:cs typeface="Arial" charset="0"/>
              </a:rPr>
              <a:t>serialWrite</a:t>
            </a:r>
            <a:r>
              <a:rPr lang="en-US" sz="2000" b="1" dirty="0">
                <a:cs typeface="Arial" charset="0"/>
              </a:rPr>
              <a:t>('L');</a:t>
            </a:r>
          </a:p>
          <a:p>
            <a:r>
              <a:rPr lang="ru-RU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 Если кнопка не нажата, то в последовательный порт отправляем символ </a:t>
            </a:r>
            <a:r>
              <a:rPr lang="en-US" b="1" dirty="0">
                <a:solidFill>
                  <a:srgbClr val="00B050"/>
                </a:solidFill>
                <a:cs typeface="Arial" charset="0"/>
              </a:rPr>
              <a:t>‘L‘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.</a:t>
            </a:r>
          </a:p>
          <a:p>
            <a:endParaRPr lang="ru-RU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delay(</a:t>
            </a:r>
            <a:r>
              <a:rPr lang="ru-RU" sz="2000" b="1" dirty="0">
                <a:cs typeface="Arial" charset="0"/>
              </a:rPr>
              <a:t>50</a:t>
            </a:r>
            <a:r>
              <a:rPr lang="en-US" sz="2000" b="1" dirty="0">
                <a:cs typeface="Arial" charset="0"/>
              </a:rPr>
              <a:t>);</a:t>
            </a:r>
            <a:r>
              <a:rPr lang="ru-RU" sz="2000" b="1" dirty="0">
                <a:cs typeface="Arial" charset="0"/>
              </a:rPr>
              <a:t>  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 Защита от дребезга контактов</a:t>
            </a:r>
          </a:p>
          <a:p>
            <a:endParaRPr lang="ru-RU" b="1" i="1" dirty="0">
              <a:solidFill>
                <a:srgbClr val="00B050"/>
              </a:solidFill>
              <a:cs typeface="Arial" charset="0"/>
            </a:endParaRPr>
          </a:p>
          <a:p>
            <a:r>
              <a:rPr lang="ru-RU" b="1" i="1" dirty="0">
                <a:cs typeface="Arial" charset="0"/>
              </a:rPr>
              <a:t>Замечание. </a:t>
            </a:r>
            <a:r>
              <a:rPr lang="ru-RU" b="1" dirty="0">
                <a:cs typeface="Arial" charset="0"/>
              </a:rPr>
              <a:t>Уровни</a:t>
            </a:r>
            <a:r>
              <a:rPr lang="ru-RU" b="1" i="1" dirty="0">
                <a:cs typeface="Arial" charset="0"/>
              </a:rPr>
              <a:t> </a:t>
            </a:r>
            <a:r>
              <a:rPr lang="en-US" b="1" dirty="0">
                <a:cs typeface="Arial" charset="0"/>
              </a:rPr>
              <a:t>HIGH</a:t>
            </a:r>
            <a:r>
              <a:rPr lang="ru-RU" b="1" dirty="0">
                <a:cs typeface="Arial" charset="0"/>
              </a:rPr>
              <a:t> и </a:t>
            </a:r>
            <a:r>
              <a:rPr lang="en-US" b="1" dirty="0">
                <a:cs typeface="Arial" charset="0"/>
              </a:rPr>
              <a:t>LOW </a:t>
            </a:r>
            <a:r>
              <a:rPr lang="ru-RU" b="1" dirty="0">
                <a:cs typeface="Arial" charset="0"/>
              </a:rPr>
              <a:t>определяются схемой включения кнопки!</a:t>
            </a:r>
          </a:p>
          <a:p>
            <a:r>
              <a:rPr lang="ru-RU" b="1" dirty="0">
                <a:cs typeface="Arial" charset="0"/>
              </a:rPr>
              <a:t>При обращении программы к порту считываются значения напряжения на ножке: 5 в = </a:t>
            </a:r>
            <a:r>
              <a:rPr lang="en-US" b="1" dirty="0">
                <a:cs typeface="Arial" charset="0"/>
              </a:rPr>
              <a:t>HIGH</a:t>
            </a:r>
            <a:r>
              <a:rPr lang="ru-RU" b="1" dirty="0">
                <a:cs typeface="Arial" charset="0"/>
              </a:rPr>
              <a:t>, 0 в = </a:t>
            </a:r>
            <a:r>
              <a:rPr lang="en-US" b="1" dirty="0">
                <a:cs typeface="Arial" charset="0"/>
              </a:rPr>
              <a:t>LOW</a:t>
            </a:r>
            <a:r>
              <a:rPr lang="ru-RU" b="1" dirty="0">
                <a:cs typeface="Arial" charset="0"/>
              </a:rPr>
              <a:t>. Для того, чтобы узнать физическое  состояние кнопки надо понять схему включения.</a:t>
            </a:r>
            <a:endParaRPr lang="ru-RU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89AF7F-4C89-4634-8B27-64465E2DE2F8}" type="slidenum">
              <a:rPr lang="ru-RU"/>
              <a:pPr>
                <a:defRPr/>
              </a:pPr>
              <a:t>8</a:t>
            </a:fld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67CE243-889B-4935-8CAD-9607CDA1CB2E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C272E524-3D37-4B93-A369-36AF934D74C4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92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 вариантов нажатия кнопки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7" name="TextBox 5"/>
          <p:cNvSpPr txBox="1">
            <a:spLocks noChangeArrowheads="1"/>
          </p:cNvSpPr>
          <p:nvPr/>
        </p:nvSpPr>
        <p:spPr bwMode="auto">
          <a:xfrm>
            <a:off x="0" y="511175"/>
            <a:ext cx="9144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2. По фронту.</a:t>
            </a:r>
          </a:p>
          <a:p>
            <a:r>
              <a:rPr lang="ru-RU" sz="2000" b="1">
                <a:cs typeface="Arial" charset="0"/>
              </a:rPr>
              <a:t>Состояния: за период опроса нажали (восходящий фронт из 0 в 1) или отпустили (падающий фронт из 1 в 0)</a:t>
            </a:r>
          </a:p>
        </p:txBody>
      </p:sp>
      <p:sp>
        <p:nvSpPr>
          <p:cNvPr id="23558" name="Прямоугольник 7"/>
          <p:cNvSpPr>
            <a:spLocks noChangeArrowheads="1"/>
          </p:cNvSpPr>
          <p:nvPr/>
        </p:nvSpPr>
        <p:spPr bwMode="auto">
          <a:xfrm>
            <a:off x="0" y="1527175"/>
            <a:ext cx="9144000" cy="547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 dirty="0">
                <a:cs typeface="Arial" charset="0"/>
              </a:rPr>
              <a:t>Программная реализация срабатывания кнопки по восходящему фронту</a:t>
            </a:r>
          </a:p>
          <a:p>
            <a:endParaRPr lang="ru-RU" sz="2000" b="1" dirty="0">
              <a:cs typeface="Arial" charset="0"/>
            </a:endParaRPr>
          </a:p>
          <a:p>
            <a:r>
              <a:rPr lang="en-US" sz="2000" b="1" dirty="0" err="1">
                <a:cs typeface="Arial" charset="0"/>
              </a:rPr>
              <a:t>int</a:t>
            </a:r>
            <a:r>
              <a:rPr lang="en-US" sz="2000" b="1" dirty="0">
                <a:cs typeface="Arial" charset="0"/>
              </a:rPr>
              <a:t> 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 = 3;</a:t>
            </a:r>
          </a:p>
          <a:p>
            <a:r>
              <a:rPr lang="en-US" sz="2000" b="1" dirty="0" err="1">
                <a:cs typeface="Arial" charset="0"/>
              </a:rPr>
              <a:t>boolean</a:t>
            </a:r>
            <a:r>
              <a:rPr lang="en-US" sz="2000" b="1" dirty="0">
                <a:cs typeface="Arial" charset="0"/>
              </a:rPr>
              <a:t> 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 = LOW; </a:t>
            </a:r>
            <a:r>
              <a:rPr lang="en-US" sz="2000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Состояние порта</a:t>
            </a:r>
            <a:r>
              <a:rPr lang="ru-RU" sz="2000" b="1" dirty="0">
                <a:cs typeface="Arial" charset="0"/>
              </a:rPr>
              <a:t>.</a:t>
            </a:r>
            <a:endParaRPr lang="en-US" sz="2000" b="1" dirty="0">
              <a:cs typeface="Arial" charset="0"/>
            </a:endParaRPr>
          </a:p>
          <a:p>
            <a:endParaRPr lang="en-US" sz="2000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void setup(){</a:t>
            </a:r>
            <a:r>
              <a:rPr lang="en-US" sz="2000" b="1" dirty="0" err="1">
                <a:cs typeface="Arial" charset="0"/>
              </a:rPr>
              <a:t>Serial.begin</a:t>
            </a:r>
            <a:r>
              <a:rPr lang="en-US" sz="2000" b="1" dirty="0">
                <a:cs typeface="Arial" charset="0"/>
              </a:rPr>
              <a:t>(9600); </a:t>
            </a:r>
            <a:r>
              <a:rPr lang="en-US" sz="2000" b="1" dirty="0" err="1">
                <a:cs typeface="Arial" charset="0"/>
              </a:rPr>
              <a:t>pinMode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, INPUT);}</a:t>
            </a:r>
          </a:p>
          <a:p>
            <a:r>
              <a:rPr lang="en-US" sz="2000" b="1" dirty="0">
                <a:cs typeface="Arial" charset="0"/>
              </a:rPr>
              <a:t>void loop(){ 	</a:t>
            </a:r>
          </a:p>
          <a:p>
            <a:r>
              <a:rPr lang="ru-RU" sz="2000" b="1" dirty="0">
                <a:cs typeface="Arial" charset="0"/>
              </a:rPr>
              <a:t>   </a:t>
            </a:r>
            <a:r>
              <a:rPr lang="en-US" sz="2000" b="1" dirty="0">
                <a:cs typeface="Arial" charset="0"/>
              </a:rPr>
              <a:t>if (</a:t>
            </a:r>
            <a:r>
              <a:rPr lang="en-US" sz="2000" b="1" dirty="0" err="1">
                <a:cs typeface="Arial" charset="0"/>
              </a:rPr>
              <a:t>digitalRead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) == HIGH) &amp;&amp; (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 == LOW) {//1</a:t>
            </a:r>
          </a:p>
          <a:p>
            <a:r>
              <a:rPr lang="en-US" sz="2000" b="1" dirty="0">
                <a:cs typeface="Arial" charset="0"/>
              </a:rPr>
              <a:t>      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 == HIGH; </a:t>
            </a:r>
            <a:r>
              <a:rPr lang="en-US" sz="2000" b="1" dirty="0" err="1">
                <a:cs typeface="Arial" charset="0"/>
              </a:rPr>
              <a:t>serialWrite</a:t>
            </a:r>
            <a:r>
              <a:rPr lang="en-US" sz="2000" b="1" dirty="0">
                <a:cs typeface="Arial" charset="0"/>
              </a:rPr>
              <a:t>(‘U');</a:t>
            </a:r>
          </a:p>
          <a:p>
            <a:r>
              <a:rPr lang="ru-RU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Пришел восходящий фронт, в последовательный порт отправляем символ </a:t>
            </a:r>
            <a:r>
              <a:rPr lang="en-US" b="1" dirty="0">
                <a:solidFill>
                  <a:srgbClr val="00B050"/>
                </a:solidFill>
                <a:cs typeface="Arial" charset="0"/>
              </a:rPr>
              <a:t>'H‘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.</a:t>
            </a:r>
            <a:r>
              <a:rPr lang="en-US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Фиксируем уровня фронта: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cs typeface="Arial" charset="0"/>
              </a:rPr>
              <a:t>bLevel</a:t>
            </a:r>
            <a:r>
              <a:rPr lang="en-US" b="1" dirty="0">
                <a:solidFill>
                  <a:srgbClr val="00B050"/>
                </a:solidFill>
                <a:cs typeface="Arial" charset="0"/>
              </a:rPr>
              <a:t> == HIGH;</a:t>
            </a:r>
            <a:endParaRPr lang="ru-RU" b="1" dirty="0">
              <a:solidFill>
                <a:srgbClr val="00B050"/>
              </a:solidFill>
              <a:cs typeface="Arial" charset="0"/>
            </a:endParaRPr>
          </a:p>
          <a:p>
            <a:r>
              <a:rPr lang="en-US" b="1" dirty="0">
                <a:cs typeface="Arial" charset="0"/>
              </a:rPr>
              <a:t>	</a:t>
            </a:r>
            <a:r>
              <a:rPr lang="en-US" sz="2000" b="1" dirty="0">
                <a:cs typeface="Arial" charset="0"/>
              </a:rPr>
              <a:t>                                                                                        }//1</a:t>
            </a:r>
            <a:r>
              <a:rPr lang="en-US" b="1" dirty="0">
                <a:cs typeface="Arial" charset="0"/>
              </a:rPr>
              <a:t>	</a:t>
            </a:r>
            <a:endParaRPr lang="ru-RU" b="1" dirty="0"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   delay(</a:t>
            </a:r>
            <a:r>
              <a:rPr lang="ru-RU" sz="2000" b="1" dirty="0">
                <a:cs typeface="Arial" charset="0"/>
              </a:rPr>
              <a:t>50</a:t>
            </a:r>
            <a:r>
              <a:rPr lang="en-US" sz="2000" b="1" dirty="0">
                <a:cs typeface="Arial" charset="0"/>
              </a:rPr>
              <a:t>);</a:t>
            </a:r>
            <a:r>
              <a:rPr lang="ru-RU" sz="2000" b="1" dirty="0">
                <a:cs typeface="Arial" charset="0"/>
              </a:rPr>
              <a:t>  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 Защита от дребезга контактов</a:t>
            </a:r>
          </a:p>
          <a:p>
            <a:r>
              <a:rPr lang="en-US" sz="2000" b="1" dirty="0">
                <a:cs typeface="Arial" charset="0"/>
              </a:rPr>
              <a:t>   if (</a:t>
            </a:r>
            <a:r>
              <a:rPr lang="en-US" sz="2000" b="1" dirty="0" err="1">
                <a:cs typeface="Arial" charset="0"/>
              </a:rPr>
              <a:t>digitalRead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) == LOW) 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 == LOW;</a:t>
            </a:r>
            <a:endParaRPr lang="ru-RU" sz="2000" b="1" i="1" dirty="0">
              <a:cs typeface="Arial" charset="0"/>
            </a:endParaRPr>
          </a:p>
          <a:p>
            <a:r>
              <a:rPr lang="en-US" b="1" i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Как только уровень упадет в 0, готовимся к приходу следующего восходящего фронта</a:t>
            </a:r>
          </a:p>
          <a:p>
            <a:r>
              <a:rPr lang="ru-RU" b="1" i="1" dirty="0">
                <a:cs typeface="Arial" charset="0"/>
              </a:rPr>
              <a:t>Замечание. </a:t>
            </a:r>
            <a:r>
              <a:rPr lang="ru-RU" b="1" dirty="0">
                <a:cs typeface="Arial" charset="0"/>
              </a:rPr>
              <a:t>Уровни</a:t>
            </a:r>
            <a:r>
              <a:rPr lang="ru-RU" b="1" i="1" dirty="0">
                <a:cs typeface="Arial" charset="0"/>
              </a:rPr>
              <a:t> </a:t>
            </a:r>
            <a:r>
              <a:rPr lang="en-US" b="1" dirty="0">
                <a:cs typeface="Arial" charset="0"/>
              </a:rPr>
              <a:t>HIGH</a:t>
            </a:r>
            <a:r>
              <a:rPr lang="ru-RU" b="1" dirty="0">
                <a:cs typeface="Arial" charset="0"/>
              </a:rPr>
              <a:t> и </a:t>
            </a:r>
            <a:r>
              <a:rPr lang="en-US" b="1" dirty="0">
                <a:cs typeface="Arial" charset="0"/>
              </a:rPr>
              <a:t>LOW </a:t>
            </a:r>
            <a:r>
              <a:rPr lang="ru-RU" b="1" dirty="0">
                <a:cs typeface="Arial" charset="0"/>
              </a:rPr>
              <a:t>определяются схемой включения кнопки!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D64746-D2F9-46F7-92AB-139BEF131A43}" type="slidenum">
              <a:rPr lang="ru-RU"/>
              <a:pPr>
                <a:defRPr/>
              </a:pPr>
              <a:t>9</a:t>
            </a:fld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328EE73-35FB-4FB6-A853-4A600147253F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B88740B-184A-4543-B570-64D253BD8227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92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 вариантов нажатия кнопки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1" name="TextBox 5"/>
          <p:cNvSpPr txBox="1">
            <a:spLocks noChangeArrowheads="1"/>
          </p:cNvSpPr>
          <p:nvPr/>
        </p:nvSpPr>
        <p:spPr bwMode="auto">
          <a:xfrm>
            <a:off x="0" y="511175"/>
            <a:ext cx="9144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cs typeface="Arial" charset="0"/>
              </a:rPr>
              <a:t>3. По импульсу.</a:t>
            </a:r>
          </a:p>
          <a:p>
            <a:r>
              <a:rPr lang="ru-RU" sz="2000" b="1">
                <a:cs typeface="Arial" charset="0"/>
              </a:rPr>
              <a:t>Состояния: за период опроса нажали и затем отпустили</a:t>
            </a:r>
          </a:p>
          <a:p>
            <a:r>
              <a:rPr lang="ru-RU" sz="2000" b="1">
                <a:cs typeface="Arial" charset="0"/>
              </a:rPr>
              <a:t>(смена состояний из 0 в 1 и затем опять в 0)</a:t>
            </a:r>
          </a:p>
        </p:txBody>
      </p:sp>
      <p:sp>
        <p:nvSpPr>
          <p:cNvPr id="24582" name="Прямоугольник 6"/>
          <p:cNvSpPr>
            <a:spLocks noChangeArrowheads="1"/>
          </p:cNvSpPr>
          <p:nvPr/>
        </p:nvSpPr>
        <p:spPr bwMode="auto">
          <a:xfrm>
            <a:off x="0" y="1527175"/>
            <a:ext cx="9144000" cy="539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 err="1">
                <a:cs typeface="Arial" charset="0"/>
              </a:rPr>
              <a:t>int</a:t>
            </a:r>
            <a:r>
              <a:rPr lang="en-US" sz="2000" b="1" dirty="0">
                <a:cs typeface="Arial" charset="0"/>
              </a:rPr>
              <a:t> 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 = 3;</a:t>
            </a:r>
          </a:p>
          <a:p>
            <a:r>
              <a:rPr lang="en-US" sz="2000" b="1" dirty="0" err="1">
                <a:cs typeface="Arial" charset="0"/>
              </a:rPr>
              <a:t>boolean</a:t>
            </a:r>
            <a:r>
              <a:rPr lang="en-US" sz="2000" b="1" dirty="0">
                <a:cs typeface="Arial" charset="0"/>
              </a:rPr>
              <a:t> 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 = LOW; </a:t>
            </a:r>
            <a:r>
              <a:rPr lang="en-US" b="1" i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Состояния порта (предыдущее).</a:t>
            </a:r>
            <a:endParaRPr lang="en-US" b="1" i="1" dirty="0">
              <a:solidFill>
                <a:srgbClr val="00B050"/>
              </a:solidFill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void setup(){</a:t>
            </a:r>
            <a:r>
              <a:rPr lang="en-US" sz="2000" b="1" dirty="0" err="1">
                <a:cs typeface="Arial" charset="0"/>
              </a:rPr>
              <a:t>Serial.begin</a:t>
            </a:r>
            <a:r>
              <a:rPr lang="en-US" sz="2000" b="1" dirty="0">
                <a:cs typeface="Arial" charset="0"/>
              </a:rPr>
              <a:t>(9600); </a:t>
            </a:r>
            <a:r>
              <a:rPr lang="en-US" sz="2000" b="1" dirty="0" err="1">
                <a:cs typeface="Arial" charset="0"/>
              </a:rPr>
              <a:t>pinMode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, INPUT);}</a:t>
            </a:r>
          </a:p>
          <a:p>
            <a:r>
              <a:rPr lang="en-US" sz="2000" b="1" dirty="0">
                <a:cs typeface="Arial" charset="0"/>
              </a:rPr>
              <a:t>void loop(){ 	</a:t>
            </a:r>
          </a:p>
          <a:p>
            <a:r>
              <a:rPr lang="ru-RU" sz="2000" b="1" dirty="0">
                <a:cs typeface="Arial" charset="0"/>
              </a:rPr>
              <a:t>   </a:t>
            </a:r>
            <a:r>
              <a:rPr lang="en-US" sz="2000" b="1" dirty="0">
                <a:cs typeface="Arial" charset="0"/>
              </a:rPr>
              <a:t>if (</a:t>
            </a:r>
            <a:r>
              <a:rPr lang="en-US" sz="2000" b="1" dirty="0" err="1">
                <a:cs typeface="Arial" charset="0"/>
              </a:rPr>
              <a:t>digitalRead</a:t>
            </a:r>
            <a:r>
              <a:rPr lang="en-US" sz="2000" b="1" dirty="0">
                <a:cs typeface="Arial" charset="0"/>
              </a:rPr>
              <a:t>(</a:t>
            </a:r>
            <a:r>
              <a:rPr lang="en-US" sz="2000" b="1" dirty="0" err="1">
                <a:cs typeface="Arial" charset="0"/>
              </a:rPr>
              <a:t>buttonPin</a:t>
            </a:r>
            <a:r>
              <a:rPr lang="en-US" sz="2000" b="1" dirty="0">
                <a:cs typeface="Arial" charset="0"/>
              </a:rPr>
              <a:t>)==LOW) </a:t>
            </a:r>
          </a:p>
          <a:p>
            <a:r>
              <a:rPr lang="en-US" b="1" i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Если кнопка не нажата, то проверим, не была ли она нажата в //предыдущий раз</a:t>
            </a:r>
            <a:endParaRPr lang="en-US" b="1" i="1" dirty="0">
              <a:solidFill>
                <a:srgbClr val="00B050"/>
              </a:solidFill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          if (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==HIGH) {//1</a:t>
            </a:r>
            <a:endParaRPr lang="ru-RU" sz="2000" b="1" dirty="0">
              <a:cs typeface="Arial" charset="0"/>
            </a:endParaRPr>
          </a:p>
          <a:p>
            <a:r>
              <a:rPr lang="ru-RU" b="1" i="1" dirty="0">
                <a:solidFill>
                  <a:srgbClr val="00B050"/>
                </a:solidFill>
                <a:cs typeface="Arial" charset="0"/>
              </a:rPr>
              <a:t>//Кнопка в предыдущий раз была нажата. Пришел импульс. Печать</a:t>
            </a:r>
            <a:r>
              <a:rPr lang="en-US" b="1" i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в </a:t>
            </a:r>
            <a:r>
              <a:rPr lang="en-US" b="1" i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последовательный порт символа </a:t>
            </a:r>
            <a:r>
              <a:rPr lang="en-US" b="1" dirty="0">
                <a:solidFill>
                  <a:srgbClr val="00B050"/>
                </a:solidFill>
                <a:cs typeface="Arial" charset="0"/>
              </a:rPr>
              <a:t>'P‘.</a:t>
            </a:r>
            <a:endParaRPr lang="en-US" b="1" i="1" dirty="0">
              <a:solidFill>
                <a:srgbClr val="00B050"/>
              </a:solidFill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                 </a:t>
            </a:r>
            <a:r>
              <a:rPr lang="en-US" sz="2000" b="1" dirty="0" err="1">
                <a:cs typeface="Arial" charset="0"/>
              </a:rPr>
              <a:t>serialWrite</a:t>
            </a:r>
            <a:r>
              <a:rPr lang="en-US" sz="2000" b="1" dirty="0">
                <a:cs typeface="Arial" charset="0"/>
              </a:rPr>
              <a:t>('P');</a:t>
            </a:r>
          </a:p>
          <a:p>
            <a:r>
              <a:rPr lang="en-US" sz="2000" b="1" dirty="0">
                <a:cs typeface="Arial" charset="0"/>
              </a:rPr>
              <a:t>                 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==LOW; </a:t>
            </a:r>
            <a:r>
              <a:rPr lang="en-US" b="1" i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Раз импульс пришел, приводим в начальное состояние переменную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cs typeface="Arial" charset="0"/>
              </a:rPr>
              <a:t>bLevel</a:t>
            </a:r>
            <a:endParaRPr lang="en-US" b="1" dirty="0">
              <a:solidFill>
                <a:srgbClr val="00B050"/>
              </a:solidFill>
              <a:cs typeface="Arial" charset="0"/>
            </a:endParaRPr>
          </a:p>
          <a:p>
            <a:r>
              <a:rPr lang="en-US" sz="2000" b="1" dirty="0">
                <a:cs typeface="Arial" charset="0"/>
              </a:rPr>
              <a:t>                                            }//1 </a:t>
            </a:r>
            <a:endParaRPr lang="ru-RU" sz="2000" b="1" dirty="0">
              <a:cs typeface="Arial" charset="0"/>
            </a:endParaRPr>
          </a:p>
          <a:p>
            <a:r>
              <a:rPr lang="ru-RU" b="1" i="1" dirty="0">
                <a:solidFill>
                  <a:srgbClr val="00B050"/>
                </a:solidFill>
                <a:cs typeface="Arial" charset="0"/>
              </a:rPr>
              <a:t>//Если на ножке порта стоит 1, то зафиксируем это состояние в //переменной </a:t>
            </a:r>
            <a:r>
              <a:rPr lang="en-US" b="1" i="1" dirty="0" err="1">
                <a:solidFill>
                  <a:srgbClr val="00B050"/>
                </a:solidFill>
                <a:cs typeface="Arial" charset="0"/>
              </a:rPr>
              <a:t>bLevel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 и будем ждать, когда уровень сигнала станет 0</a:t>
            </a:r>
            <a:r>
              <a:rPr lang="ru-RU" sz="2000" b="1" dirty="0">
                <a:solidFill>
                  <a:srgbClr val="00B050"/>
                </a:solidFill>
                <a:cs typeface="Arial" charset="0"/>
              </a:rPr>
              <a:t>. </a:t>
            </a:r>
          </a:p>
          <a:p>
            <a:r>
              <a:rPr lang="en-US" sz="2000" b="1" dirty="0">
                <a:cs typeface="Arial" charset="0"/>
              </a:rPr>
              <a:t>          else if (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==LOW) </a:t>
            </a:r>
            <a:r>
              <a:rPr lang="en-US" sz="2000" b="1" dirty="0" err="1">
                <a:cs typeface="Arial" charset="0"/>
              </a:rPr>
              <a:t>bLevel</a:t>
            </a:r>
            <a:r>
              <a:rPr lang="en-US" sz="2000" b="1" dirty="0">
                <a:cs typeface="Arial" charset="0"/>
              </a:rPr>
              <a:t>==HIGH;</a:t>
            </a:r>
          </a:p>
          <a:p>
            <a:r>
              <a:rPr lang="ru-RU" sz="2000" b="1" dirty="0">
                <a:cs typeface="Arial" charset="0"/>
              </a:rPr>
              <a:t>   </a:t>
            </a:r>
            <a:r>
              <a:rPr lang="en-US" sz="2000" b="1" dirty="0">
                <a:cs typeface="Arial" charset="0"/>
              </a:rPr>
              <a:t>delay(</a:t>
            </a:r>
            <a:r>
              <a:rPr lang="ru-RU" sz="2000" b="1" dirty="0">
                <a:cs typeface="Arial" charset="0"/>
              </a:rPr>
              <a:t>50</a:t>
            </a:r>
            <a:r>
              <a:rPr lang="en-US" sz="2000" b="1" dirty="0">
                <a:cs typeface="Arial" charset="0"/>
              </a:rPr>
              <a:t>);</a:t>
            </a:r>
            <a:r>
              <a:rPr lang="ru-RU" sz="2000" b="1" dirty="0">
                <a:cs typeface="Arial" charset="0"/>
              </a:rPr>
              <a:t>  </a:t>
            </a:r>
            <a:r>
              <a:rPr lang="ru-RU" b="1" dirty="0">
                <a:solidFill>
                  <a:srgbClr val="00B050"/>
                </a:solidFill>
                <a:cs typeface="Arial" charset="0"/>
              </a:rPr>
              <a:t>//</a:t>
            </a:r>
            <a:r>
              <a:rPr lang="ru-RU" b="1" i="1" dirty="0">
                <a:solidFill>
                  <a:srgbClr val="00B050"/>
                </a:solidFill>
                <a:cs typeface="Arial" charset="0"/>
              </a:rPr>
              <a:t> Защита от дребезга контактов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6C2F83-CA5C-424C-AAF6-08146FAA3E8B}" type="slidenum">
              <a:rPr lang="ru-RU"/>
              <a:pPr>
                <a:defRPr/>
              </a:pPr>
              <a:t>10</a:t>
            </a:fld>
            <a:endParaRPr lang="ru-RU"/>
          </a:p>
        </p:txBody>
      </p:sp>
      <p:sp>
        <p:nvSpPr>
          <p:cNvPr id="5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415D5C62-BD42-4D58-9F7F-B49D5C3C57B3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81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Операторы языка С++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4" name="Объект 2"/>
          <p:cNvSpPr>
            <a:spLocks noGrp="1"/>
          </p:cNvSpPr>
          <p:nvPr>
            <p:ph idx="1"/>
          </p:nvPr>
        </p:nvSpPr>
        <p:spPr>
          <a:xfrm>
            <a:off x="0" y="620713"/>
            <a:ext cx="8229600" cy="58324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000" b="1" dirty="0" smtClean="0">
                <a:latin typeface="Arial" charset="0"/>
                <a:cs typeface="Arial" charset="0"/>
              </a:rPr>
              <a:t>Управляющие операторы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b="1" dirty="0" smtClean="0">
                <a:latin typeface="Arial" charset="0"/>
                <a:cs typeface="Arial" charset="0"/>
                <a:hlinkClick r:id="rId2"/>
              </a:rPr>
              <a:t>If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smtClean="0">
                <a:latin typeface="Arial" charset="0"/>
                <a:cs typeface="Arial" charset="0"/>
                <a:hlinkClick r:id="rId3"/>
              </a:rPr>
              <a:t>if…else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smtClean="0">
                <a:latin typeface="Arial" charset="0"/>
                <a:cs typeface="Arial" charset="0"/>
                <a:hlinkClick r:id="rId4"/>
              </a:rPr>
              <a:t>for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smtClean="0">
                <a:latin typeface="Arial" charset="0"/>
                <a:cs typeface="Arial" charset="0"/>
                <a:hlinkClick r:id="rId5"/>
              </a:rPr>
              <a:t>switch case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smtClean="0">
                <a:latin typeface="Arial" charset="0"/>
                <a:cs typeface="Arial" charset="0"/>
                <a:hlinkClick r:id="rId6"/>
              </a:rPr>
              <a:t>while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smtClean="0">
                <a:latin typeface="Arial" charset="0"/>
                <a:cs typeface="Arial" charset="0"/>
                <a:hlinkClick r:id="rId7"/>
              </a:rPr>
              <a:t>do… while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smtClean="0">
                <a:latin typeface="Arial" charset="0"/>
                <a:cs typeface="Arial" charset="0"/>
                <a:hlinkClick r:id="rId8"/>
              </a:rPr>
              <a:t>break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smtClean="0">
                <a:latin typeface="Arial" charset="0"/>
                <a:cs typeface="Arial" charset="0"/>
                <a:hlinkClick r:id="rId9"/>
              </a:rPr>
              <a:t>continue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smtClean="0">
                <a:latin typeface="Arial" charset="0"/>
                <a:cs typeface="Arial" charset="0"/>
                <a:hlinkClick r:id="rId10"/>
              </a:rPr>
              <a:t>return</a:t>
            </a:r>
            <a:r>
              <a:rPr lang="ru-RU" sz="2000" b="1" dirty="0" smtClean="0">
                <a:latin typeface="Arial" charset="0"/>
                <a:cs typeface="Arial" charset="0"/>
              </a:rPr>
              <a:t>, </a:t>
            </a:r>
            <a:r>
              <a:rPr lang="en-US" sz="2000" b="1" dirty="0" err="1" smtClean="0">
                <a:latin typeface="Arial" charset="0"/>
                <a:cs typeface="Arial" charset="0"/>
                <a:hlinkClick r:id="rId11"/>
              </a:rPr>
              <a:t>goto</a:t>
            </a:r>
            <a:endParaRPr lang="en-US" sz="2000" b="1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000" b="1" dirty="0" smtClean="0">
                <a:latin typeface="Arial" charset="0"/>
                <a:cs typeface="Arial" charset="0"/>
              </a:rPr>
              <a:t>Арифметические операторы</a:t>
            </a:r>
          </a:p>
          <a:p>
            <a:pPr eaLnBrk="1" hangingPunct="1">
              <a:lnSpc>
                <a:spcPct val="80000"/>
              </a:lnSpc>
            </a:pPr>
            <a:r>
              <a:rPr lang="ru-RU" sz="2000" b="1" dirty="0" smtClean="0">
                <a:latin typeface="Arial" charset="0"/>
                <a:cs typeface="Arial" charset="0"/>
                <a:hlinkClick r:id="rId12"/>
              </a:rPr>
              <a:t>= (оператор присваивания)</a:t>
            </a:r>
            <a:endParaRPr lang="ru-RU" sz="2000" b="1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000" b="1" dirty="0" smtClean="0">
                <a:latin typeface="Arial" charset="0"/>
                <a:cs typeface="Arial" charset="0"/>
                <a:hlinkClick r:id="rId13"/>
              </a:rPr>
              <a:t>+ (сложение) </a:t>
            </a:r>
            <a:endParaRPr lang="ru-RU" sz="2000" b="1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000" b="1" dirty="0" smtClean="0">
                <a:latin typeface="Arial" charset="0"/>
                <a:cs typeface="Arial" charset="0"/>
                <a:hlinkClick r:id="rId13"/>
              </a:rPr>
              <a:t>— (вычитание)</a:t>
            </a:r>
            <a:endParaRPr lang="ru-RU" sz="2000" b="1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000" b="1" dirty="0" smtClean="0">
                <a:latin typeface="Arial" charset="0"/>
                <a:cs typeface="Arial" charset="0"/>
                <a:hlinkClick r:id="rId13"/>
              </a:rPr>
              <a:t>* (умножение)</a:t>
            </a:r>
            <a:endParaRPr lang="ru-RU" sz="2000" b="1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000" b="1" dirty="0" smtClean="0">
                <a:latin typeface="Arial" charset="0"/>
                <a:cs typeface="Arial" charset="0"/>
                <a:hlinkClick r:id="rId13"/>
              </a:rPr>
              <a:t>/ (деление) </a:t>
            </a:r>
            <a:endParaRPr lang="ru-RU" sz="2000" b="1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000" b="1" dirty="0" smtClean="0">
                <a:latin typeface="Arial" charset="0"/>
                <a:cs typeface="Arial" charset="0"/>
                <a:hlinkClick r:id="rId13"/>
              </a:rPr>
              <a:t>% (остаток от деления)</a:t>
            </a:r>
            <a:endParaRPr lang="ru-RU" sz="2000" b="1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ru-RU" sz="2000" b="1" smtClean="0">
                <a:latin typeface="Arial" charset="0"/>
              </a:rPr>
              <a:t>Константы</a:t>
            </a:r>
            <a:endParaRPr lang="ru-RU" sz="2000" b="1" dirty="0" smtClean="0">
              <a:latin typeface="Arial" charset="0"/>
            </a:endParaRPr>
          </a:p>
          <a:p>
            <a:pPr eaLnBrk="1" hangingPunct="1">
              <a:buFont typeface="Arial" charset="0"/>
              <a:buNone/>
            </a:pPr>
            <a:r>
              <a:rPr lang="ru-RU" sz="2000" b="1" dirty="0" smtClean="0">
                <a:latin typeface="Arial" charset="0"/>
              </a:rPr>
              <a:t>	Константы, описывающие состояние ножек </a:t>
            </a:r>
            <a:r>
              <a:rPr lang="ru-RU" sz="2000" b="1" dirty="0" err="1" smtClean="0">
                <a:latin typeface="Arial" charset="0"/>
              </a:rPr>
              <a:t>Ардуино</a:t>
            </a:r>
            <a:endParaRPr lang="ru-RU" sz="2000" b="1" dirty="0" smtClean="0">
              <a:latin typeface="Arial" charset="0"/>
            </a:endParaRPr>
          </a:p>
          <a:p>
            <a:pPr eaLnBrk="1" hangingPunct="1">
              <a:buFont typeface="Arial" charset="0"/>
              <a:buNone/>
            </a:pPr>
            <a:r>
              <a:rPr lang="ru-RU" sz="2000" b="1" dirty="0" smtClean="0">
                <a:latin typeface="Arial" charset="0"/>
              </a:rPr>
              <a:t>		</a:t>
            </a:r>
            <a:r>
              <a:rPr lang="ru-RU" sz="2000" b="1" dirty="0" smtClean="0">
                <a:latin typeface="Arial" charset="0"/>
                <a:hlinkClick r:id="rId14"/>
              </a:rPr>
              <a:t>HIGH</a:t>
            </a:r>
            <a:r>
              <a:rPr lang="ru-RU" sz="2000" b="1" dirty="0" smtClean="0">
                <a:latin typeface="Arial" charset="0"/>
              </a:rPr>
              <a:t> | </a:t>
            </a:r>
            <a:r>
              <a:rPr lang="ru-RU" sz="2000" b="1" dirty="0" smtClean="0">
                <a:latin typeface="Arial" charset="0"/>
                <a:hlinkClick r:id="rId14"/>
              </a:rPr>
              <a:t>LOW</a:t>
            </a:r>
            <a:r>
              <a:rPr lang="en-US" sz="2000" b="1" dirty="0" smtClean="0">
                <a:latin typeface="Arial" charset="0"/>
              </a:rPr>
              <a:t>| </a:t>
            </a:r>
            <a:r>
              <a:rPr lang="ru-RU" sz="2000" b="1" dirty="0" smtClean="0">
                <a:latin typeface="Arial" charset="0"/>
                <a:hlinkClick r:id="rId14"/>
              </a:rPr>
              <a:t>INPUT</a:t>
            </a:r>
            <a:r>
              <a:rPr lang="ru-RU" sz="2000" b="1" dirty="0" smtClean="0">
                <a:latin typeface="Arial" charset="0"/>
              </a:rPr>
              <a:t> | </a:t>
            </a:r>
            <a:r>
              <a:rPr lang="ru-RU" sz="2000" b="1" dirty="0" smtClean="0">
                <a:latin typeface="Arial" charset="0"/>
                <a:hlinkClick r:id="rId14"/>
              </a:rPr>
              <a:t>OUTPUT</a:t>
            </a:r>
            <a:r>
              <a:rPr lang="ru-RU" sz="2000" b="1" dirty="0" smtClean="0">
                <a:latin typeface="Arial" charset="0"/>
              </a:rPr>
              <a:t>| </a:t>
            </a:r>
            <a:r>
              <a:rPr lang="ru-RU" sz="2000" b="1" i="1" dirty="0" smtClean="0">
                <a:latin typeface="Arial" charset="0"/>
                <a:hlinkClick r:id="rId14"/>
              </a:rPr>
              <a:t>INPUT_PULLUP</a:t>
            </a:r>
            <a:endParaRPr lang="ru-RU" sz="2000" b="1" i="1" dirty="0" smtClean="0">
              <a:latin typeface="Arial" charset="0"/>
            </a:endParaRPr>
          </a:p>
          <a:p>
            <a:pPr eaLnBrk="1" hangingPunct="1"/>
            <a:r>
              <a:rPr lang="ru-RU" sz="2000" b="1" dirty="0" err="1" smtClean="0">
                <a:latin typeface="Arial" charset="0"/>
                <a:hlinkClick r:id="rId14"/>
              </a:rPr>
              <a:t>true</a:t>
            </a:r>
            <a:r>
              <a:rPr lang="ru-RU" sz="2000" b="1" dirty="0" smtClean="0">
                <a:latin typeface="Arial" charset="0"/>
              </a:rPr>
              <a:t> | </a:t>
            </a:r>
            <a:r>
              <a:rPr lang="ru-RU" sz="2000" b="1" dirty="0" err="1" smtClean="0">
                <a:latin typeface="Arial" charset="0"/>
                <a:hlinkClick r:id="rId14"/>
              </a:rPr>
              <a:t>false</a:t>
            </a:r>
            <a:endParaRPr lang="ru-RU" sz="2000" b="1" dirty="0" smtClean="0">
              <a:latin typeface="Arial" charset="0"/>
            </a:endParaRPr>
          </a:p>
          <a:p>
            <a:pPr eaLnBrk="1" hangingPunct="1"/>
            <a:r>
              <a:rPr lang="ru-RU" sz="2000" b="1" dirty="0" smtClean="0">
                <a:latin typeface="Arial" charset="0"/>
                <a:hlinkClick r:id="rId15"/>
              </a:rPr>
              <a:t>целочисленные константы</a:t>
            </a:r>
            <a:endParaRPr lang="ru-RU" sz="2000" b="1" dirty="0" smtClean="0">
              <a:latin typeface="Arial" charset="0"/>
            </a:endParaRPr>
          </a:p>
          <a:p>
            <a:pPr eaLnBrk="1" hangingPunct="1"/>
            <a:r>
              <a:rPr lang="ru-RU" sz="2000" b="1" dirty="0" smtClean="0">
                <a:latin typeface="Arial" charset="0"/>
                <a:hlinkClick r:id="rId16"/>
              </a:rPr>
              <a:t>константы с плавающей точкой</a:t>
            </a:r>
            <a:endParaRPr lang="ru-RU" sz="2000" b="1" dirty="0" smtClean="0">
              <a:latin typeface="Arial" charset="0"/>
            </a:endParaRP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ru-RU" sz="2000" b="1" dirty="0" smtClean="0"/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85BE8EE-7455-49AC-A7D4-C2871851C5AA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D83C64-797E-4B1B-BA58-B2243C9946E5}" type="slidenum">
              <a:rPr lang="ru-RU"/>
              <a:pPr>
                <a:defRPr/>
              </a:pPr>
              <a:t>11</a:t>
            </a:fld>
            <a:endParaRPr lang="ru-RU"/>
          </a:p>
        </p:txBody>
      </p:sp>
      <p:sp>
        <p:nvSpPr>
          <p:cNvPr id="20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9B8C1EE-AA6F-487E-9719-DC45DEEB4A8E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ru-RU" sz="3200" b="1" smtClean="0">
                <a:latin typeface="Arial" charset="0"/>
              </a:rPr>
              <a:t>Тип входа </a:t>
            </a:r>
            <a:r>
              <a:rPr lang="en-US" sz="3200" b="1" smtClean="0">
                <a:solidFill>
                  <a:schemeClr val="hlink"/>
                </a:solidFill>
                <a:latin typeface="Arial" charset="0"/>
              </a:rPr>
              <a:t>INPUT PULLUP</a:t>
            </a:r>
            <a:endParaRPr lang="ru-RU" sz="3200" b="1" i="1" u="sng" smtClean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0" y="1268413"/>
            <a:ext cx="9144000" cy="187325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Вход типа </a:t>
            </a:r>
            <a:r>
              <a:rPr lang="en-US" sz="2000" b="1" smtClean="0">
                <a:solidFill>
                  <a:schemeClr val="hlink"/>
                </a:solidFill>
                <a:latin typeface="Arial" charset="0"/>
              </a:rPr>
              <a:t>INPUT PULLUP</a:t>
            </a:r>
            <a:r>
              <a:rPr lang="ru-RU" sz="2000" b="1" smtClean="0">
                <a:solidFill>
                  <a:schemeClr val="hlink"/>
                </a:solidFill>
                <a:latin typeface="Arial" charset="0"/>
              </a:rPr>
              <a:t> </a:t>
            </a:r>
            <a:r>
              <a:rPr lang="ru-RU" sz="2000" b="1" smtClean="0">
                <a:latin typeface="Arial" charset="0"/>
              </a:rPr>
              <a:t>означает, что к ножке входа Ардуина подключит подтягивающее сопротивление. Это позволит не использовать подтягивающее сопротивление в схем включения кнопки и других устройств, на выходе которых изменяется сопротивление, а не напряжение 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687638" y="4437063"/>
            <a:ext cx="1597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668713" y="4797425"/>
            <a:ext cx="107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779838" y="4797425"/>
            <a:ext cx="0" cy="503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632200" y="5299075"/>
            <a:ext cx="2889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26" idx="4"/>
          </p:cNvCxnSpPr>
          <p:nvPr/>
        </p:nvCxnSpPr>
        <p:spPr>
          <a:xfrm>
            <a:off x="3263900" y="3532188"/>
            <a:ext cx="12700" cy="904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/>
          <p:cNvSpPr/>
          <p:nvPr/>
        </p:nvSpPr>
        <p:spPr>
          <a:xfrm>
            <a:off x="3924300" y="3500438"/>
            <a:ext cx="142875" cy="1444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6635" name="TextBox 27"/>
          <p:cNvSpPr txBox="1">
            <a:spLocks noChangeArrowheads="1"/>
          </p:cNvSpPr>
          <p:nvPr/>
        </p:nvSpPr>
        <p:spPr bwMode="auto">
          <a:xfrm>
            <a:off x="4572000" y="3141663"/>
            <a:ext cx="38163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cs typeface="Arial" charset="0"/>
              </a:rPr>
              <a:t>5 В </a:t>
            </a:r>
          </a:p>
          <a:p>
            <a:r>
              <a:rPr lang="ru-RU" b="1">
                <a:cs typeface="Arial" charset="0"/>
              </a:rPr>
              <a:t>Подтягивающий резистор              встроен в схему Ардуино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3192463" y="3806825"/>
            <a:ext cx="142875" cy="417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flipV="1">
            <a:off x="4359275" y="4725988"/>
            <a:ext cx="71438" cy="215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4356100" y="4941888"/>
            <a:ext cx="0" cy="285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6"/>
          <p:cNvCxnSpPr/>
          <p:nvPr/>
        </p:nvCxnSpPr>
        <p:spPr>
          <a:xfrm>
            <a:off x="4227513" y="5211763"/>
            <a:ext cx="2889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4284663" y="44370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250825" y="3141663"/>
            <a:ext cx="3384550" cy="28082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6642" name="Text Box 18"/>
          <p:cNvSpPr txBox="1">
            <a:spLocks noChangeArrowheads="1"/>
          </p:cNvSpPr>
          <p:nvPr/>
        </p:nvSpPr>
        <p:spPr bwMode="auto">
          <a:xfrm>
            <a:off x="611188" y="3429000"/>
            <a:ext cx="165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Ардуино</a:t>
            </a:r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3276600" y="35734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6644" name="Text Box 20"/>
          <p:cNvSpPr txBox="1">
            <a:spLocks noChangeArrowheads="1"/>
          </p:cNvSpPr>
          <p:nvPr/>
        </p:nvSpPr>
        <p:spPr bwMode="auto">
          <a:xfrm>
            <a:off x="4787900" y="4437063"/>
            <a:ext cx="424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pinMode(Pin</a:t>
            </a:r>
            <a:r>
              <a:rPr lang="en-US" b="1"/>
              <a:t>Number</a:t>
            </a:r>
            <a:r>
              <a:rPr lang="ru-RU" b="1"/>
              <a:t>,</a:t>
            </a:r>
            <a:r>
              <a:rPr lang="en-US" b="1">
                <a:solidFill>
                  <a:schemeClr val="hlink"/>
                </a:solidFill>
              </a:rPr>
              <a:t>INPUT PULLUP)</a:t>
            </a:r>
            <a:r>
              <a:rPr lang="ru-RU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EE733E-E4B5-4176-AFBB-A6B3666390E2}" type="slidenum">
              <a:rPr lang="ru-RU"/>
              <a:pPr>
                <a:defRPr/>
              </a:pPr>
              <a:t>12</a:t>
            </a:fld>
            <a:endParaRPr lang="ru-RU"/>
          </a:p>
        </p:txBody>
      </p:sp>
      <p:sp>
        <p:nvSpPr>
          <p:cNvPr id="5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D204DA1-88BF-4B7B-82A3-082061C64F8B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7651" name="Заголовок 1"/>
          <p:cNvSpPr>
            <a:spLocks noGrp="1"/>
          </p:cNvSpPr>
          <p:nvPr>
            <p:ph type="title"/>
          </p:nvPr>
        </p:nvSpPr>
        <p:spPr>
          <a:xfrm>
            <a:off x="0" y="260350"/>
            <a:ext cx="8686800" cy="576263"/>
          </a:xfrm>
        </p:spPr>
        <p:txBody>
          <a:bodyPr/>
          <a:lstStyle/>
          <a:p>
            <a:pPr eaLnBrk="1" hangingPunct="1"/>
            <a:r>
              <a:rPr lang="ru-RU" sz="3200" b="1" smtClean="0">
                <a:latin typeface="Arial" charset="0"/>
              </a:rPr>
              <a:t>Данные</a:t>
            </a:r>
          </a:p>
        </p:txBody>
      </p:sp>
      <p:sp>
        <p:nvSpPr>
          <p:cNvPr id="27652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Типы данных</a:t>
            </a: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2"/>
              </a:rPr>
              <a:t>void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3"/>
              </a:rPr>
              <a:t>boolean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4"/>
              </a:rPr>
              <a:t>char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5"/>
              </a:rPr>
              <a:t>unsigned char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6"/>
              </a:rPr>
              <a:t>byte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7"/>
              </a:rPr>
              <a:t>int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8"/>
              </a:rPr>
              <a:t>unsigned int</a:t>
            </a:r>
            <a:r>
              <a:rPr lang="en-US" sz="2000" b="1" smtClean="0">
                <a:latin typeface="Arial" charset="0"/>
              </a:rPr>
              <a:t>,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9"/>
              </a:rPr>
              <a:t>word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10"/>
              </a:rPr>
              <a:t>long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11"/>
              </a:rPr>
              <a:t>unsigned long</a:t>
            </a:r>
            <a:r>
              <a:rPr lang="en-US" sz="2000" b="1" smtClean="0">
                <a:latin typeface="Arial" charset="0"/>
              </a:rPr>
              <a:t>,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sz="2000" b="1" smtClean="0">
                <a:latin typeface="Arial" charset="0"/>
                <a:hlinkClick r:id="rId12"/>
              </a:rPr>
              <a:t>s</a:t>
            </a:r>
            <a:r>
              <a:rPr lang="ru-RU" sz="2000" b="1" smtClean="0">
                <a:latin typeface="Arial" charset="0"/>
                <a:hlinkClick r:id="rId12"/>
              </a:rPr>
              <a:t>hort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13"/>
              </a:rPr>
              <a:t>float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14"/>
              </a:rPr>
              <a:t>double</a:t>
            </a:r>
            <a:r>
              <a:rPr lang="en-US" sz="2000" b="1" smtClean="0">
                <a:latin typeface="Arial" charset="0"/>
              </a:rPr>
              <a:t>, 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15"/>
              </a:rPr>
              <a:t>string — массив символов</a:t>
            </a:r>
            <a:r>
              <a:rPr lang="en-US" sz="2000" b="1" smtClean="0">
                <a:latin typeface="Arial" charset="0"/>
              </a:rPr>
              <a:t>, </a:t>
            </a:r>
            <a:r>
              <a:rPr lang="ru-RU" sz="2000" b="1" smtClean="0">
                <a:latin typeface="Arial" charset="0"/>
                <a:hlinkClick r:id="rId16"/>
              </a:rPr>
              <a:t>массивы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Преобразование типов</a:t>
            </a: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17"/>
              </a:rPr>
              <a:t>char()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18"/>
              </a:rPr>
              <a:t>byte()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19"/>
              </a:rPr>
              <a:t>int()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20"/>
              </a:rPr>
              <a:t>word()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21"/>
              </a:rPr>
              <a:t>long()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ru-RU" sz="2000" b="1" smtClean="0">
                <a:latin typeface="Arial" charset="0"/>
                <a:hlinkClick r:id="rId22"/>
              </a:rPr>
              <a:t>float()</a:t>
            </a:r>
            <a:endParaRPr lang="ru-RU" sz="2000" b="1" smtClean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</a:pPr>
            <a:endParaRPr lang="ru-RU" sz="2000" b="1" smtClean="0">
              <a:latin typeface="Arial" charset="0"/>
            </a:endParaRPr>
          </a:p>
        </p:txBody>
      </p:sp>
      <p:sp>
        <p:nvSpPr>
          <p:cNvPr id="4" name="Номер слайда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0FEA48-EEDE-4D47-893F-C000C0BD57A5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2D5734-E5AD-4FB6-AF10-932DB839082C}" type="slidenum">
              <a:rPr lang="ru-RU"/>
              <a:pPr>
                <a:defRPr/>
              </a:pPr>
              <a:t>13</a:t>
            </a:fld>
            <a:endParaRPr lang="ru-RU"/>
          </a:p>
        </p:txBody>
      </p:sp>
      <p:sp>
        <p:nvSpPr>
          <p:cNvPr id="6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F970EB5-8EE1-4862-8A4B-7917896B357B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8675" name="Заголовок 1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91512" cy="850900"/>
          </a:xfrm>
        </p:spPr>
        <p:txBody>
          <a:bodyPr/>
          <a:lstStyle/>
          <a:p>
            <a:pPr eaLnBrk="1" hangingPunct="1"/>
            <a:r>
              <a:rPr lang="ru-RU" b="1" smtClean="0"/>
              <a:t>Область видимости переменной</a:t>
            </a:r>
          </a:p>
        </p:txBody>
      </p:sp>
      <p:sp>
        <p:nvSpPr>
          <p:cNvPr id="5" name="Номер слайда 4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C0BCA78-DAFC-436E-ACE9-56FFB83FE34C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8677" name="Rectangle 8"/>
          <p:cNvSpPr>
            <a:spLocks noChangeArrowheads="1"/>
          </p:cNvSpPr>
          <p:nvPr/>
        </p:nvSpPr>
        <p:spPr bwMode="auto">
          <a:xfrm>
            <a:off x="250825" y="1557338"/>
            <a:ext cx="8532813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/>
              <a:t>Глобальная переменная — эта та переменная, которая может быть доступна («</a:t>
            </a:r>
            <a:r>
              <a:rPr lang="ru-RU" sz="2400" b="1" i="1"/>
              <a:t>видна</a:t>
            </a:r>
            <a:r>
              <a:rPr lang="ru-RU" sz="2400" b="1"/>
              <a:t>«) из любой функции программы. </a:t>
            </a:r>
          </a:p>
          <a:p>
            <a:endParaRPr lang="ru-RU" sz="2400" b="1"/>
          </a:p>
          <a:p>
            <a:r>
              <a:rPr lang="ru-RU" sz="2400" b="1"/>
              <a:t>Локальные переменные доступны только внутри тех функций, в которых они объявлены. </a:t>
            </a:r>
          </a:p>
          <a:p>
            <a:endParaRPr lang="ru-RU" sz="2400" b="1"/>
          </a:p>
          <a:p>
            <a:r>
              <a:rPr lang="ru-RU" sz="2400" b="1"/>
              <a:t>При программировании Ардуино, любая переменная, объявленная за пределами функции (таких как, setup(), loop(), и т.д.), является глобальной переменной.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B7B141-2D20-421C-91C1-A7F1148D45E8}" type="slidenum">
              <a:rPr lang="ru-RU"/>
              <a:pPr>
                <a:defRPr/>
              </a:pPr>
              <a:t>14</a:t>
            </a:fld>
            <a:endParaRPr lang="ru-RU"/>
          </a:p>
        </p:txBody>
      </p:sp>
      <p:sp>
        <p:nvSpPr>
          <p:cNvPr id="4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AF85190-95B9-49A2-9BAF-88A89A5631A7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561975"/>
          </a:xfrm>
        </p:spPr>
        <p:txBody>
          <a:bodyPr/>
          <a:lstStyle/>
          <a:p>
            <a:pPr eaLnBrk="1" hangingPunct="1"/>
            <a:r>
              <a:rPr lang="ru-RU" sz="4000" b="1" smtClean="0"/>
              <a:t>СПЕЦИФИКАТОРЫ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179388" y="952500"/>
            <a:ext cx="8856662" cy="539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000" b="1">
                <a:hlinkClick r:id="rId2"/>
              </a:rPr>
              <a:t>Static</a:t>
            </a:r>
            <a:r>
              <a:rPr lang="ru-RU" sz="2000" b="1"/>
              <a:t> Ключевое слово </a:t>
            </a:r>
            <a:r>
              <a:rPr lang="ru-RU" sz="2000" b="1" i="1"/>
              <a:t>static </a:t>
            </a:r>
            <a:r>
              <a:rPr lang="ru-RU" sz="2000" b="1"/>
              <a:t>используется для создания переменных, которые будут видны только одной функции. Однако, в отличие от локальных переменных, которые создаются и уничтожаются при каждом вызове функции, переменные </a:t>
            </a:r>
            <a:r>
              <a:rPr lang="ru-RU" sz="2000" b="1" i="1"/>
              <a:t>static </a:t>
            </a:r>
            <a:r>
              <a:rPr lang="ru-RU" sz="2000" b="1"/>
              <a:t>сохраняют свое значение между вызовами.</a:t>
            </a:r>
            <a:r>
              <a:rPr lang="ru-RU" sz="2000"/>
              <a:t> </a:t>
            </a:r>
          </a:p>
          <a:p>
            <a:endParaRPr lang="ru-RU" sz="2000" b="1"/>
          </a:p>
          <a:p>
            <a:r>
              <a:rPr lang="ru-RU" sz="2000" b="1">
                <a:hlinkClick r:id="rId3"/>
              </a:rPr>
              <a:t>Volatile</a:t>
            </a:r>
            <a:r>
              <a:rPr lang="ru-RU" sz="2000" b="1"/>
              <a:t> Переменную необходимо объявлять как </a:t>
            </a:r>
            <a:r>
              <a:rPr lang="ru-RU" sz="2000" b="1" i="1"/>
              <a:t>volatile</a:t>
            </a:r>
            <a:r>
              <a:rPr lang="ru-RU" sz="2000" b="1"/>
              <a:t> в тех случаях, когда ее значение может быть изменено чем-либо, не зависящем от того участка кода, в котором она фигурирует (например, параллельно выполняющимся потоком). Применительно к Ардуино, единственное место, где подобное может случиться — это участки кода, связанные с прерываниями (также называемые процедурами обработки прерываний).</a:t>
            </a:r>
            <a:r>
              <a:rPr lang="ru-RU"/>
              <a:t> </a:t>
            </a:r>
          </a:p>
          <a:p>
            <a:endParaRPr lang="ru-RU" sz="2000" b="1"/>
          </a:p>
          <a:p>
            <a:pPr algn="ctr"/>
            <a:r>
              <a:rPr lang="ru-RU" sz="2800" b="1"/>
              <a:t>Вспомогательная функция</a:t>
            </a:r>
          </a:p>
          <a:p>
            <a:pPr algn="ctr"/>
            <a:r>
              <a:rPr lang="ru-RU" sz="2000" b="1">
                <a:hlinkClick r:id="rId4"/>
              </a:rPr>
              <a:t>sizeof()</a:t>
            </a:r>
            <a:endParaRPr lang="ru-RU" sz="2000" b="1"/>
          </a:p>
          <a:p>
            <a:pPr algn="ctr" eaLnBrk="0" hangingPunct="0"/>
            <a:endParaRPr lang="ru-RU" sz="2000" b="1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544BE8-8B54-4A8F-BD0A-FA4E20605F52}" type="slidenum">
              <a:rPr lang="ru-RU"/>
              <a:pPr>
                <a:defRPr/>
              </a:pPr>
              <a:t>15</a:t>
            </a:fld>
            <a:endParaRPr lang="ru-RU"/>
          </a:p>
        </p:txBody>
      </p:sp>
      <p:sp>
        <p:nvSpPr>
          <p:cNvPr id="4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C80D4F4-155B-4792-BE7A-7D330E349B10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633413"/>
          </a:xfrm>
        </p:spPr>
        <p:txBody>
          <a:bodyPr/>
          <a:lstStyle/>
          <a:p>
            <a:pPr eaLnBrk="1" hangingPunct="1"/>
            <a:r>
              <a:rPr lang="ru-RU" sz="4000" b="1" smtClean="0"/>
              <a:t>МАТЕМАТИЧЕСКИЕ ВЫЧИСЛЕНИЯ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733425"/>
            <a:ext cx="9144000" cy="612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>
                <a:hlinkClick r:id="rId2"/>
              </a:rPr>
              <a:t>min(</a:t>
            </a:r>
            <a:r>
              <a:rPr lang="en-US" sz="2400" b="1">
                <a:hlinkClick r:id="rId2"/>
              </a:rPr>
              <a:t>x,y</a:t>
            </a:r>
            <a:r>
              <a:rPr lang="ru-RU" sz="2400" b="1">
                <a:hlinkClick r:id="rId2"/>
              </a:rPr>
              <a:t>)</a:t>
            </a:r>
            <a:r>
              <a:rPr lang="ru-RU" sz="2400" b="1"/>
              <a:t>, </a:t>
            </a:r>
            <a:r>
              <a:rPr lang="ru-RU" sz="2400" b="1">
                <a:hlinkClick r:id="rId3"/>
              </a:rPr>
              <a:t>max(</a:t>
            </a:r>
            <a:r>
              <a:rPr lang="en-US" sz="2400" b="1">
                <a:hlinkClick r:id="rId3"/>
              </a:rPr>
              <a:t>x,y</a:t>
            </a:r>
            <a:r>
              <a:rPr lang="ru-RU" sz="2400" b="1">
                <a:hlinkClick r:id="rId3"/>
              </a:rPr>
              <a:t>)</a:t>
            </a:r>
            <a:r>
              <a:rPr lang="ru-RU" sz="2400" b="1"/>
              <a:t>, </a:t>
            </a:r>
            <a:r>
              <a:rPr lang="ru-RU" sz="2400" b="1">
                <a:hlinkClick r:id="rId4"/>
              </a:rPr>
              <a:t>abs(</a:t>
            </a:r>
            <a:r>
              <a:rPr lang="en-US" sz="2400" b="1">
                <a:hlinkClick r:id="rId4"/>
              </a:rPr>
              <a:t>x</a:t>
            </a:r>
            <a:r>
              <a:rPr lang="ru-RU" sz="2400" b="1">
                <a:hlinkClick r:id="rId4"/>
              </a:rPr>
              <a:t>)</a:t>
            </a:r>
            <a:r>
              <a:rPr lang="ru-RU" sz="2400" b="1"/>
              <a:t>,</a:t>
            </a:r>
          </a:p>
          <a:p>
            <a:r>
              <a:rPr lang="ru-RU" sz="2400" b="1">
                <a:hlinkClick r:id="rId5"/>
              </a:rPr>
              <a:t>constrain()</a:t>
            </a:r>
            <a:r>
              <a:rPr lang="ru-RU" sz="2400" b="1"/>
              <a:t>, </a:t>
            </a:r>
            <a:r>
              <a:rPr lang="ru-RU" b="1"/>
              <a:t>constrain(x, a, b)</a:t>
            </a:r>
          </a:p>
          <a:p>
            <a:r>
              <a:rPr lang="ru-RU" b="1"/>
              <a:t>x: если x лежит в пределах между a и b.</a:t>
            </a:r>
          </a:p>
          <a:p>
            <a:r>
              <a:rPr lang="ru-RU" b="1"/>
              <a:t>a: если x меньше a.</a:t>
            </a:r>
          </a:p>
          <a:p>
            <a:r>
              <a:rPr lang="ru-RU" b="1"/>
              <a:t>b: если x больше b.</a:t>
            </a:r>
            <a:endParaRPr lang="ru-RU" sz="2400" b="1"/>
          </a:p>
          <a:p>
            <a:r>
              <a:rPr lang="ru-RU" sz="2400" b="1">
                <a:hlinkClick r:id="rId6"/>
              </a:rPr>
              <a:t>map()</a:t>
            </a:r>
            <a:r>
              <a:rPr lang="ru-RU" sz="2400" b="1"/>
              <a:t>,</a:t>
            </a:r>
            <a:r>
              <a:rPr lang="en-US" sz="2400" b="1"/>
              <a:t> </a:t>
            </a:r>
            <a:r>
              <a:rPr lang="ru-RU" sz="2000" b="1"/>
              <a:t>map(value, fromLow, fromHigh, toLow, toHigh)</a:t>
            </a:r>
            <a:r>
              <a:rPr lang="en-US" sz="2000" b="1"/>
              <a:t> </a:t>
            </a:r>
            <a:r>
              <a:rPr lang="ru-RU" sz="2000" b="1"/>
              <a:t>Целые числа</a:t>
            </a:r>
          </a:p>
          <a:p>
            <a:r>
              <a:rPr lang="ru-RU" b="1"/>
              <a:t>value: переменная, значение которой необходимо преобразовать</a:t>
            </a:r>
          </a:p>
          <a:p>
            <a:r>
              <a:rPr lang="ru-RU" b="1"/>
              <a:t>fromLow: нижний предел текущего диапазона переменной value</a:t>
            </a:r>
          </a:p>
          <a:p>
            <a:r>
              <a:rPr lang="ru-RU" b="1"/>
              <a:t>fromHigh: верхний предел текущего диапазона переменной value</a:t>
            </a:r>
          </a:p>
          <a:p>
            <a:r>
              <a:rPr lang="ru-RU" b="1"/>
              <a:t>toLow: нижний предел нового диапазона переменной value</a:t>
            </a:r>
          </a:p>
          <a:p>
            <a:r>
              <a:rPr lang="ru-RU" b="1"/>
              <a:t>toHigh: верхний предел нового диапазона переменной value</a:t>
            </a:r>
            <a:endParaRPr lang="en-US" sz="2400" b="1"/>
          </a:p>
          <a:p>
            <a:r>
              <a:rPr lang="ru-RU" sz="2400" b="1">
                <a:hlinkClick r:id="rId7"/>
              </a:rPr>
              <a:t>pow()</a:t>
            </a:r>
            <a:r>
              <a:rPr lang="ru-RU" sz="2400" b="1"/>
              <a:t>, </a:t>
            </a:r>
            <a:r>
              <a:rPr lang="ru-RU" b="1"/>
              <a:t>pow(base, exponent)</a:t>
            </a:r>
          </a:p>
          <a:p>
            <a:r>
              <a:rPr lang="ru-RU" b="1"/>
              <a:t>base: число (</a:t>
            </a:r>
            <a:r>
              <a:rPr lang="ru-RU" b="1" i="1"/>
              <a:t>float</a:t>
            </a:r>
            <a:r>
              <a:rPr lang="ru-RU" b="1"/>
              <a:t>)</a:t>
            </a:r>
          </a:p>
          <a:p>
            <a:r>
              <a:rPr lang="ru-RU" b="1"/>
              <a:t>exponent: показатель степени, в которую необходимо возвести число (</a:t>
            </a:r>
            <a:r>
              <a:rPr lang="ru-RU" b="1" i="1"/>
              <a:t>float</a:t>
            </a:r>
            <a:r>
              <a:rPr lang="ru-RU" b="1"/>
              <a:t>)</a:t>
            </a:r>
            <a:endParaRPr lang="ru-RU" sz="2400" b="1"/>
          </a:p>
          <a:p>
            <a:r>
              <a:rPr lang="ru-RU" sz="2400" b="1">
                <a:hlinkClick r:id="rId8"/>
              </a:rPr>
              <a:t>sqrt()</a:t>
            </a:r>
            <a:r>
              <a:rPr lang="ru-RU" sz="2400" b="1"/>
              <a:t>, </a:t>
            </a:r>
            <a:r>
              <a:rPr lang="ru-RU" sz="2400" b="1">
                <a:hlinkClick r:id="rId9"/>
              </a:rPr>
              <a:t>sq()</a:t>
            </a:r>
            <a:endParaRPr lang="ru-RU" sz="2400" b="1"/>
          </a:p>
          <a:p>
            <a:r>
              <a:rPr lang="ru-RU" sz="2400" b="1"/>
              <a:t>Тригонометрия </a:t>
            </a:r>
            <a:r>
              <a:rPr lang="ru-RU" sz="2400" b="1">
                <a:hlinkClick r:id="rId10"/>
              </a:rPr>
              <a:t>sin()</a:t>
            </a:r>
            <a:r>
              <a:rPr lang="ru-RU" sz="2400" b="1"/>
              <a:t>, </a:t>
            </a:r>
            <a:r>
              <a:rPr lang="ru-RU" sz="2400" b="1">
                <a:hlinkClick r:id="rId11"/>
              </a:rPr>
              <a:t>cos()</a:t>
            </a:r>
            <a:r>
              <a:rPr lang="ru-RU" sz="2400" b="1"/>
              <a:t>, </a:t>
            </a:r>
            <a:r>
              <a:rPr lang="ru-RU" sz="2400" b="1">
                <a:hlinkClick r:id="rId12"/>
              </a:rPr>
              <a:t>tan()</a:t>
            </a:r>
            <a:r>
              <a:rPr lang="ru-RU" sz="2400" b="1"/>
              <a:t>. </a:t>
            </a:r>
            <a:r>
              <a:rPr lang="ru-RU" sz="2400" b="1">
                <a:solidFill>
                  <a:srgbClr val="FF3300"/>
                </a:solidFill>
              </a:rPr>
              <a:t>Нет обратных функций</a:t>
            </a:r>
          </a:p>
          <a:p>
            <a:r>
              <a:rPr lang="ru-RU" sz="2400" b="1"/>
              <a:t>Случайные числа</a:t>
            </a:r>
          </a:p>
          <a:p>
            <a:r>
              <a:rPr lang="ru-RU" sz="2400" b="1">
                <a:hlinkClick r:id="rId13"/>
              </a:rPr>
              <a:t>randomSeed()</a:t>
            </a:r>
            <a:r>
              <a:rPr lang="ru-RU" sz="2400" b="1"/>
              <a:t> – случайые повторяющиеся  значения, </a:t>
            </a:r>
            <a:r>
              <a:rPr lang="ru-RU" sz="2400" b="1">
                <a:hlinkClick r:id="rId14"/>
              </a:rPr>
              <a:t>random()</a:t>
            </a:r>
            <a:r>
              <a:rPr lang="ru-RU" sz="2400" b="1"/>
              <a:t> – случайые значения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02FB27-411B-4174-91FB-D01FB7C6FAE1}" type="slidenum">
              <a:rPr lang="ru-RU"/>
              <a:pPr>
                <a:defRPr/>
              </a:pPr>
              <a:t>16</a:t>
            </a:fld>
            <a:endParaRPr lang="ru-RU"/>
          </a:p>
        </p:txBody>
      </p:sp>
      <p:sp>
        <p:nvSpPr>
          <p:cNvPr id="4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47CC976-B097-41F9-8F65-33E4A256D2CD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16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713"/>
          </a:xfrm>
        </p:spPr>
        <p:txBody>
          <a:bodyPr/>
          <a:lstStyle/>
          <a:p>
            <a:pPr eaLnBrk="1" hangingPunct="1"/>
            <a:r>
              <a:rPr lang="ru-RU" sz="3600" b="1" smtClean="0">
                <a:latin typeface="Arial" charset="0"/>
              </a:rPr>
              <a:t>Операции над байтами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2276475"/>
            <a:ext cx="47164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>
                <a:hlinkClick r:id="rId2"/>
              </a:rPr>
              <a:t>lowByte()</a:t>
            </a:r>
            <a:r>
              <a:rPr lang="ru-RU" sz="2000" b="1"/>
              <a:t> </a:t>
            </a:r>
            <a:r>
              <a:rPr lang="ru-RU" sz="2000"/>
              <a:t>Извлекает младший </a:t>
            </a:r>
          </a:p>
          <a:p>
            <a:r>
              <a:rPr lang="ru-RU" sz="2000"/>
              <a:t>(крайний правый) байт переменной  </a:t>
            </a:r>
          </a:p>
          <a:p>
            <a:r>
              <a:rPr lang="ru-RU" sz="2000" b="1">
                <a:hlinkClick r:id="rId3"/>
              </a:rPr>
              <a:t>highByte()</a:t>
            </a:r>
            <a:r>
              <a:rPr lang="ru-RU" sz="2000" b="1"/>
              <a:t> </a:t>
            </a:r>
            <a:r>
              <a:rPr lang="ru-RU" sz="2000"/>
              <a:t>Извлекает старший</a:t>
            </a:r>
          </a:p>
          <a:p>
            <a:r>
              <a:rPr lang="ru-RU" sz="2000"/>
              <a:t>(крайний левый) байт переменной</a:t>
            </a:r>
          </a:p>
          <a:p>
            <a:r>
              <a:rPr lang="ru-RU" sz="2000"/>
              <a:t>                Номер бита 7654 3210</a:t>
            </a:r>
          </a:p>
          <a:p>
            <a:r>
              <a:rPr lang="ru-RU" sz="2000"/>
              <a:t>114</a:t>
            </a:r>
            <a:r>
              <a:rPr lang="ru-RU" sz="2000" baseline="-25000"/>
              <a:t>10</a:t>
            </a:r>
            <a:r>
              <a:rPr lang="ru-RU" sz="2000"/>
              <a:t>=64+32+16 + 2=0111 0010</a:t>
            </a:r>
            <a:r>
              <a:rPr lang="ru-RU" sz="2000" baseline="-25000"/>
              <a:t>2</a:t>
            </a:r>
            <a:r>
              <a:rPr lang="ru-RU" sz="2000"/>
              <a:t>=72</a:t>
            </a:r>
            <a:r>
              <a:rPr lang="ru-RU" sz="2000" baseline="-25000"/>
              <a:t>16</a:t>
            </a:r>
          </a:p>
          <a:p>
            <a:r>
              <a:rPr lang="ru-RU" sz="2000" b="1">
                <a:hlinkClick r:id="rId2"/>
              </a:rPr>
              <a:t>lowByte(114)</a:t>
            </a:r>
            <a:r>
              <a:rPr lang="ru-RU" sz="2000" b="1"/>
              <a:t>=2; </a:t>
            </a:r>
            <a:r>
              <a:rPr lang="ru-RU" sz="2000" b="1">
                <a:hlinkClick r:id="rId3"/>
              </a:rPr>
              <a:t>highByte(114)</a:t>
            </a:r>
            <a:r>
              <a:rPr lang="ru-RU" sz="2000" b="1"/>
              <a:t>=112;</a:t>
            </a:r>
            <a:r>
              <a:rPr lang="ru-RU" sz="2400"/>
              <a:t> </a:t>
            </a:r>
          </a:p>
          <a:p>
            <a:endParaRPr lang="ru-RU" sz="2000" b="1"/>
          </a:p>
        </p:txBody>
      </p:sp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692150"/>
            <a:ext cx="4716463" cy="454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37993F-A289-420D-93DD-46C62F5098BC}" type="slidenum">
              <a:rPr lang="ru-RU"/>
              <a:pPr>
                <a:defRPr/>
              </a:pPr>
              <a:t>17</a:t>
            </a:fld>
            <a:endParaRPr lang="ru-RU"/>
          </a:p>
        </p:txBody>
      </p:sp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692150"/>
          </a:xfrm>
        </p:spPr>
        <p:txBody>
          <a:bodyPr/>
          <a:lstStyle/>
          <a:p>
            <a:r>
              <a:rPr lang="ru-RU" sz="3600" b="1" smtClean="0">
                <a:latin typeface="Arial" charset="0"/>
              </a:rPr>
              <a:t>Операции над битами</a:t>
            </a: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0" y="1196975"/>
            <a:ext cx="91440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>
                <a:hlinkClick r:id="rId2"/>
              </a:rPr>
              <a:t>bitRead(</a:t>
            </a:r>
            <a:r>
              <a:rPr lang="ru-RU" sz="2400" b="1"/>
              <a:t>x, n</a:t>
            </a:r>
            <a:r>
              <a:rPr lang="ru-RU" sz="2400" b="1">
                <a:hlinkClick r:id="rId3"/>
              </a:rPr>
              <a:t>)</a:t>
            </a:r>
            <a:r>
              <a:rPr lang="ru-RU" sz="2400" b="1"/>
              <a:t>, </a:t>
            </a:r>
            <a:r>
              <a:rPr lang="ru-RU" sz="2400"/>
              <a:t>считывает заданный бит</a:t>
            </a:r>
            <a:r>
              <a:rPr lang="en-US" sz="2400"/>
              <a:t>.</a:t>
            </a:r>
          </a:p>
          <a:p>
            <a:r>
              <a:rPr lang="ru-RU" sz="2400"/>
              <a:t>x: число, у которого необходимо считать бит </a:t>
            </a:r>
            <a:r>
              <a:rPr lang="en-US" sz="2400"/>
              <a:t>n.</a:t>
            </a:r>
            <a:endParaRPr lang="ru-RU" sz="2400" b="1"/>
          </a:p>
          <a:p>
            <a:r>
              <a:rPr lang="ru-RU" sz="2400" b="1">
                <a:hlinkClick r:id="rId3"/>
              </a:rPr>
              <a:t>bitWrite(</a:t>
            </a:r>
            <a:r>
              <a:rPr lang="ru-RU" sz="2400" b="1"/>
              <a:t>x, n, b</a:t>
            </a:r>
            <a:r>
              <a:rPr lang="ru-RU" sz="2400" b="1">
                <a:hlinkClick r:id="rId3"/>
              </a:rPr>
              <a:t>)</a:t>
            </a:r>
            <a:r>
              <a:rPr lang="ru-RU" sz="2400" b="1"/>
              <a:t>, </a:t>
            </a:r>
            <a:r>
              <a:rPr lang="ru-RU" sz="2400"/>
              <a:t>записывает бит на нужное место числа</a:t>
            </a:r>
            <a:endParaRPr lang="en-US" sz="2400"/>
          </a:p>
          <a:p>
            <a:r>
              <a:rPr lang="ru-RU" sz="2400"/>
              <a:t>x: число, в котором необходимо заменить бит </a:t>
            </a:r>
            <a:r>
              <a:rPr lang="en-US" sz="2400"/>
              <a:t>n</a:t>
            </a:r>
            <a:r>
              <a:rPr lang="ru-RU" sz="2400"/>
              <a:t> на бит </a:t>
            </a:r>
            <a:r>
              <a:rPr lang="en-US" sz="2400"/>
              <a:t>b</a:t>
            </a:r>
            <a:r>
              <a:rPr lang="ru-RU" sz="2400"/>
              <a:t> </a:t>
            </a:r>
            <a:endParaRPr lang="ru-RU" sz="2400" b="1"/>
          </a:p>
          <a:p>
            <a:r>
              <a:rPr lang="ru-RU" sz="2400" b="1">
                <a:hlinkClick r:id="rId4"/>
              </a:rPr>
              <a:t>bitSet(</a:t>
            </a:r>
            <a:r>
              <a:rPr lang="ru-RU" sz="2400" b="1"/>
              <a:t>x, n</a:t>
            </a:r>
            <a:r>
              <a:rPr lang="ru-RU" sz="2400" b="1">
                <a:hlinkClick r:id="rId3"/>
              </a:rPr>
              <a:t>)</a:t>
            </a:r>
            <a:r>
              <a:rPr lang="ru-RU" sz="2000"/>
              <a:t> </a:t>
            </a:r>
            <a:r>
              <a:rPr lang="ru-RU" sz="2400"/>
              <a:t>устанавливает бит в 1</a:t>
            </a:r>
            <a:r>
              <a:rPr lang="en-US" sz="2400"/>
              <a:t>.</a:t>
            </a:r>
            <a:endParaRPr lang="ru-RU" sz="2400"/>
          </a:p>
          <a:p>
            <a:r>
              <a:rPr lang="ru-RU" sz="2400"/>
              <a:t>x: переменная, у которой необходимо установить бит в 1.</a:t>
            </a:r>
          </a:p>
          <a:p>
            <a:r>
              <a:rPr lang="ru-RU" sz="2400"/>
              <a:t>n: номер бита, который необходимо установить в 1. Нумерация начинается с младшего значащего бита (крайнего правого) с номером 0</a:t>
            </a:r>
          </a:p>
          <a:p>
            <a:r>
              <a:rPr lang="ru-RU" sz="2400" b="1">
                <a:hlinkClick r:id="rId5"/>
              </a:rPr>
              <a:t>bitClear(</a:t>
            </a:r>
            <a:r>
              <a:rPr lang="ru-RU" sz="2400" b="1"/>
              <a:t>x, n</a:t>
            </a:r>
            <a:r>
              <a:rPr lang="ru-RU" sz="2400" b="1">
                <a:hlinkClick r:id="rId5"/>
              </a:rPr>
              <a:t>)</a:t>
            </a:r>
            <a:r>
              <a:rPr lang="ru-RU" sz="2400" b="1"/>
              <a:t>, </a:t>
            </a:r>
            <a:r>
              <a:rPr lang="ru-RU" sz="2400"/>
              <a:t>в отличие от </a:t>
            </a:r>
            <a:r>
              <a:rPr lang="ru-RU" sz="2400">
                <a:hlinkClick r:id="rId4"/>
              </a:rPr>
              <a:t>bitSet</a:t>
            </a:r>
            <a:r>
              <a:rPr lang="ru-RU" sz="2400" b="1"/>
              <a:t> </a:t>
            </a:r>
            <a:r>
              <a:rPr lang="ru-RU" sz="2400"/>
              <a:t>устанавливает бит в 0.</a:t>
            </a:r>
            <a:endParaRPr lang="ru-RU" sz="2400" b="1"/>
          </a:p>
          <a:p>
            <a:r>
              <a:rPr lang="ru-RU" sz="2400" b="1">
                <a:hlinkClick r:id="rId6"/>
              </a:rPr>
              <a:t>bit(</a:t>
            </a:r>
            <a:r>
              <a:rPr lang="ru-RU" sz="2400" b="1"/>
              <a:t>x, n</a:t>
            </a:r>
            <a:r>
              <a:rPr lang="ru-RU" sz="2400" b="1">
                <a:hlinkClick r:id="rId6"/>
              </a:rPr>
              <a:t>)</a:t>
            </a:r>
            <a:r>
              <a:rPr lang="ru-RU" sz="2400" b="1"/>
              <a:t> </a:t>
            </a:r>
            <a:r>
              <a:rPr lang="ru-RU" sz="2400"/>
              <a:t>читает из числа х бит </a:t>
            </a:r>
            <a:r>
              <a:rPr lang="en-US" sz="2400"/>
              <a:t>n.</a:t>
            </a:r>
          </a:p>
          <a:p>
            <a:r>
              <a:rPr lang="ru-RU" sz="2400"/>
              <a:t>Встроенные функции обычно работают быстрей и занимают меньше места.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725EDC-C761-4ECA-9F7B-7DD4C6ECEEAE}" type="slidenum">
              <a:rPr lang="ru-RU"/>
              <a:pPr>
                <a:defRPr/>
              </a:pPr>
              <a:t>18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8E3B463-D5D1-441E-9B4F-C0243FBFBBF8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0" y="553601"/>
            <a:ext cx="9144000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ru-RU" b="1" dirty="0"/>
          </a:p>
          <a:p>
            <a:r>
              <a:rPr lang="ru-RU" sz="2400" b="1" dirty="0" err="1">
                <a:hlinkClick r:id="rId2"/>
              </a:rPr>
              <a:t>pinMode</a:t>
            </a:r>
            <a:r>
              <a:rPr lang="ru-RU" sz="2400" b="1" dirty="0">
                <a:hlinkClick r:id="rId2"/>
              </a:rPr>
              <a:t>(</a:t>
            </a:r>
            <a:r>
              <a:rPr lang="en-US" sz="2400" b="1" dirty="0"/>
              <a:t>p</a:t>
            </a:r>
            <a:r>
              <a:rPr lang="ru-RU" sz="2400" b="1" dirty="0" err="1"/>
              <a:t>in</a:t>
            </a:r>
            <a:r>
              <a:rPr lang="en-US" sz="2400" b="1" dirty="0"/>
              <a:t>, </a:t>
            </a:r>
            <a:r>
              <a:rPr lang="ru-RU" sz="2400" b="1" dirty="0" err="1"/>
              <a:t>mode</a:t>
            </a:r>
            <a:r>
              <a:rPr lang="ru-RU" sz="2400" b="1" dirty="0">
                <a:hlinkClick r:id="rId2"/>
              </a:rPr>
              <a:t>)</a:t>
            </a:r>
            <a:r>
              <a:rPr lang="ru-RU" sz="2400" b="1" dirty="0"/>
              <a:t> конфигурирует цифровые порты</a:t>
            </a:r>
          </a:p>
          <a:p>
            <a:r>
              <a:rPr lang="en-US" sz="2000" dirty="0"/>
              <a:t>p</a:t>
            </a:r>
            <a:r>
              <a:rPr lang="ru-RU" sz="2000" dirty="0" err="1"/>
              <a:t>in</a:t>
            </a:r>
            <a:r>
              <a:rPr lang="ru-RU" sz="2000" dirty="0"/>
              <a:t>: номер вывода, режим работы которого будет конфигурироваться.</a:t>
            </a:r>
          </a:p>
          <a:p>
            <a:r>
              <a:rPr lang="ru-RU" sz="2000" dirty="0" err="1"/>
              <a:t>mode</a:t>
            </a:r>
            <a:r>
              <a:rPr lang="ru-RU" sz="2000" dirty="0"/>
              <a:t>: принимает значения INPUT, OUTPUT или INPUT_PULLUP</a:t>
            </a:r>
          </a:p>
          <a:p>
            <a:endParaRPr lang="ru-RU" sz="2400" b="1" dirty="0"/>
          </a:p>
          <a:p>
            <a:r>
              <a:rPr lang="ru-RU" sz="2400" b="1" dirty="0" err="1">
                <a:hlinkClick r:id="rId3"/>
              </a:rPr>
              <a:t>digitalWrite</a:t>
            </a:r>
            <a:r>
              <a:rPr lang="ru-RU" sz="2400" b="1" dirty="0">
                <a:hlinkClick r:id="rId3"/>
              </a:rPr>
              <a:t>(</a:t>
            </a:r>
            <a:r>
              <a:rPr lang="en-US" sz="2400" dirty="0"/>
              <a:t>p</a:t>
            </a:r>
            <a:r>
              <a:rPr lang="ru-RU" sz="2400" dirty="0" err="1"/>
              <a:t>in</a:t>
            </a:r>
            <a:r>
              <a:rPr lang="en-US" sz="2400" dirty="0"/>
              <a:t>, </a:t>
            </a:r>
            <a:r>
              <a:rPr lang="ru-RU" sz="2400" dirty="0" err="1"/>
              <a:t>value</a:t>
            </a:r>
            <a:r>
              <a:rPr lang="ru-RU" sz="2400" b="1" dirty="0">
                <a:hlinkClick r:id="rId3"/>
              </a:rPr>
              <a:t>)</a:t>
            </a:r>
            <a:r>
              <a:rPr lang="ru-RU" sz="2400" b="1" dirty="0"/>
              <a:t> устанавливает сигнал 1 или 0 на заданной ножке </a:t>
            </a:r>
            <a:r>
              <a:rPr lang="ru-RU" sz="2400" b="1" dirty="0" err="1"/>
              <a:t>Ардуино</a:t>
            </a:r>
            <a:endParaRPr lang="ru-RU" sz="2400" b="1" dirty="0"/>
          </a:p>
          <a:p>
            <a:r>
              <a:rPr lang="ru-RU" sz="2400" dirty="0" err="1"/>
              <a:t>pin</a:t>
            </a:r>
            <a:r>
              <a:rPr lang="ru-RU" sz="2400" dirty="0"/>
              <a:t>: номер вывода</a:t>
            </a:r>
          </a:p>
          <a:p>
            <a:r>
              <a:rPr lang="ru-RU" sz="2400" dirty="0" err="1"/>
              <a:t>value</a:t>
            </a:r>
            <a:r>
              <a:rPr lang="ru-RU" sz="2400" dirty="0"/>
              <a:t>: значение </a:t>
            </a:r>
            <a:r>
              <a:rPr lang="ru-RU" sz="2400" dirty="0">
                <a:hlinkClick r:id="rId4"/>
              </a:rPr>
              <a:t>HIGH</a:t>
            </a:r>
            <a:r>
              <a:rPr lang="ru-RU" sz="2400" dirty="0"/>
              <a:t> или </a:t>
            </a:r>
            <a:r>
              <a:rPr lang="ru-RU" sz="2400" dirty="0" smtClean="0">
                <a:hlinkClick r:id="rId4"/>
              </a:rPr>
              <a:t>LOW</a:t>
            </a:r>
            <a:r>
              <a:rPr lang="ru-RU" sz="2400" dirty="0" smtClean="0"/>
              <a:t> или 1 или 0</a:t>
            </a:r>
            <a:endParaRPr lang="ru-RU" sz="2400" dirty="0"/>
          </a:p>
          <a:p>
            <a:endParaRPr lang="ru-RU" sz="2400" dirty="0"/>
          </a:p>
          <a:p>
            <a:r>
              <a:rPr lang="ru-RU" sz="2400" b="1" dirty="0" err="1">
                <a:hlinkClick r:id="rId5"/>
              </a:rPr>
              <a:t>digitalRead</a:t>
            </a:r>
            <a:r>
              <a:rPr lang="ru-RU" sz="2400" b="1" dirty="0">
                <a:hlinkClick r:id="rId5"/>
              </a:rPr>
              <a:t>(</a:t>
            </a:r>
            <a:r>
              <a:rPr lang="en-US" sz="2400" b="1" dirty="0"/>
              <a:t>p</a:t>
            </a:r>
            <a:r>
              <a:rPr lang="ru-RU" sz="2400" b="1" dirty="0" err="1"/>
              <a:t>in</a:t>
            </a:r>
            <a:r>
              <a:rPr lang="ru-RU" sz="2400" b="1" dirty="0">
                <a:hlinkClick r:id="rId5"/>
              </a:rPr>
              <a:t>)</a:t>
            </a:r>
            <a:r>
              <a:rPr lang="ru-RU" sz="2400" b="1" dirty="0"/>
              <a:t> принимает значение </a:t>
            </a:r>
            <a:r>
              <a:rPr lang="ru-RU" sz="2400" b="1" dirty="0">
                <a:hlinkClick r:id="rId4"/>
              </a:rPr>
              <a:t>HIGH</a:t>
            </a:r>
            <a:r>
              <a:rPr lang="ru-RU" sz="2400" b="1" dirty="0"/>
              <a:t> </a:t>
            </a:r>
            <a:r>
              <a:rPr lang="ru-RU" sz="2400" b="1" dirty="0" smtClean="0"/>
              <a:t>(1) или </a:t>
            </a:r>
            <a:r>
              <a:rPr lang="ru-RU" sz="2400" b="1" dirty="0" smtClean="0">
                <a:hlinkClick r:id="rId4"/>
              </a:rPr>
              <a:t>LOW</a:t>
            </a:r>
            <a:r>
              <a:rPr lang="ru-RU" sz="2400" b="1" dirty="0" smtClean="0"/>
              <a:t>(0) </a:t>
            </a:r>
            <a:r>
              <a:rPr lang="ru-RU" sz="2400" b="1" dirty="0"/>
              <a:t>цифрового выхода с номером </a:t>
            </a:r>
            <a:r>
              <a:rPr lang="en-US" sz="2400" b="1" dirty="0"/>
              <a:t>p</a:t>
            </a:r>
            <a:r>
              <a:rPr lang="ru-RU" sz="2400" b="1" dirty="0" err="1"/>
              <a:t>in</a:t>
            </a:r>
            <a:r>
              <a:rPr lang="ru-RU" sz="2400" b="1" dirty="0"/>
              <a:t>.</a:t>
            </a:r>
          </a:p>
          <a:p>
            <a:pPr algn="ctr"/>
            <a:endParaRPr lang="ru-RU" sz="2400" b="1" dirty="0"/>
          </a:p>
          <a:p>
            <a:pPr algn="ctr" eaLnBrk="0" hangingPunct="0"/>
            <a:endParaRPr lang="ru-RU" sz="2400" b="1" dirty="0">
              <a:latin typeface="Calibri" pitchFamily="34" charset="0"/>
            </a:endParaRP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/>
              <a:t>ЦИФРОВОЙ ВВОД/ВЫВОД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9DEF24-41C0-41A9-9500-FC909A3EE29E}" type="slidenum">
              <a:rPr lang="ru-RU"/>
              <a:pPr>
                <a:defRPr/>
              </a:pPr>
              <a:t>19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250C6AC-A9E2-4FA9-A2C2-36F20B7EC8B9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19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0" y="2271713"/>
            <a:ext cx="9144000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>
                <a:hlinkClick r:id="rId2"/>
              </a:rPr>
              <a:t>analogReference()</a:t>
            </a:r>
            <a:r>
              <a:rPr lang="ru-RU" sz="2000" b="1"/>
              <a:t> </a:t>
            </a:r>
            <a:r>
              <a:rPr lang="ru-RU" sz="2000"/>
              <a:t>Устанавливает источник опорного напряжения, использующийся при считывании аналогового сигнала </a:t>
            </a:r>
          </a:p>
          <a:p>
            <a:r>
              <a:rPr lang="ru-RU" sz="2000"/>
              <a:t>DEFAULT: опорное напряжение по умолчанию, равное 5 В (на 5В-платах Ардуино) или 3.3 В (на 3.3В-платах Ардуино)</a:t>
            </a:r>
          </a:p>
          <a:p>
            <a:r>
              <a:rPr lang="ru-RU" sz="2000"/>
              <a:t>INTERNAL: внутреннее опорное напряжение, равное 1.1 В в микроконтроллерах ATmega168 и ATmega328, или 2.56 В в микроконтроллере ATmega8 (</a:t>
            </a:r>
            <a:r>
              <a:rPr lang="ru-RU" sz="2000" i="1"/>
              <a:t>не доступно в Arduino Mega</a:t>
            </a:r>
            <a:r>
              <a:rPr lang="ru-RU" sz="2000"/>
              <a:t>)</a:t>
            </a:r>
          </a:p>
          <a:p>
            <a:r>
              <a:rPr lang="ru-RU" sz="2000"/>
              <a:t>EXTERNAL: в качестве опорного напряжения будет использоваться напряжение, приложенное</a:t>
            </a:r>
            <a:r>
              <a:rPr lang="ru-RU"/>
              <a:t> к выводу AREF (от 0 до 5В)</a:t>
            </a:r>
          </a:p>
          <a:p>
            <a:r>
              <a:rPr lang="ru-RU" b="1"/>
              <a:t>При использовании внешнего источника опорного напряжения, напряжение на выводе AREF должно быть строго в пределах от 0 до 5 В! </a:t>
            </a:r>
          </a:p>
          <a:p>
            <a:r>
              <a:rPr lang="ru-RU" sz="2400" b="1">
                <a:hlinkClick r:id="rId3"/>
              </a:rPr>
              <a:t>analogRead(</a:t>
            </a:r>
            <a:r>
              <a:rPr lang="ru-RU" sz="2400" b="1"/>
              <a:t>pin</a:t>
            </a:r>
            <a:r>
              <a:rPr lang="ru-RU" sz="2400" b="1">
                <a:hlinkClick r:id="rId3"/>
              </a:rPr>
              <a:t>)</a:t>
            </a:r>
            <a:r>
              <a:rPr lang="ru-RU" b="1"/>
              <a:t> </a:t>
            </a:r>
            <a:r>
              <a:rPr lang="ru-RU" sz="2000"/>
              <a:t>Читает аналоговый сигнал порта pin. (A0 — A5 для большинства плат, A0 — A7 для Mini и Nano)</a:t>
            </a:r>
            <a:r>
              <a:rPr lang="ru-RU"/>
              <a:t> </a:t>
            </a:r>
            <a:endParaRPr lang="ru-RU" b="1"/>
          </a:p>
          <a:p>
            <a:pPr algn="ctr"/>
            <a:endParaRPr lang="ru-RU" b="1"/>
          </a:p>
          <a:p>
            <a:pPr algn="ctr" eaLnBrk="0" hangingPunct="0"/>
            <a:endParaRPr lang="ru-RU">
              <a:latin typeface="Calibri" pitchFamily="34" charset="0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403350" y="0"/>
            <a:ext cx="58324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3200" b="1"/>
              <a:t>Аналоговый ввод/вывод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0" y="549275"/>
            <a:ext cx="9144000" cy="160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Ардуино нано позволяет ввести аналоговый сигнал с разрешением 10 бит (точность 0.1%). Результат лежит в интервале от 0 до 1023.</a:t>
            </a:r>
            <a:endParaRPr lang="en-US"/>
          </a:p>
          <a:p>
            <a:pPr>
              <a:spcBef>
                <a:spcPct val="50000"/>
              </a:spcBef>
            </a:pPr>
            <a:r>
              <a:rPr lang="ru-RU"/>
              <a:t>Для того, чтобы воспользоваться аналоговым вводом надо подать напряжение на ножку </a:t>
            </a:r>
            <a:r>
              <a:rPr lang="en-US"/>
              <a:t>AREF. </a:t>
            </a:r>
            <a:r>
              <a:rPr lang="ru-RU"/>
              <a:t>Значение 1023 будет соответствовать величине поданного опорного напряжения.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40F44-C7DA-49A7-8736-B6B8B1FDF4CB}" type="slidenum">
              <a:rPr lang="ru-RU"/>
              <a:pPr>
                <a:defRPr/>
              </a:pPr>
              <a:t>20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D78DD67-86FE-41B1-852F-A7F2445C23A6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20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0" y="1557338"/>
            <a:ext cx="4211638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>
                <a:hlinkClick r:id="rId2"/>
              </a:rPr>
              <a:t>analogWrite(</a:t>
            </a:r>
            <a:r>
              <a:rPr lang="ru-RU" sz="2400" b="1"/>
              <a:t>pin, value</a:t>
            </a:r>
            <a:r>
              <a:rPr lang="ru-RU" sz="2400" b="1">
                <a:hlinkClick r:id="rId2"/>
              </a:rPr>
              <a:t>)</a:t>
            </a:r>
            <a:r>
              <a:rPr lang="ru-RU"/>
              <a:t> </a:t>
            </a:r>
            <a:r>
              <a:rPr lang="ru-RU" sz="2000"/>
              <a:t>подает сигнал в виде ШИМ на ножку с номером pin</a:t>
            </a:r>
          </a:p>
          <a:p>
            <a:r>
              <a:rPr lang="ru-RU" sz="2000"/>
              <a:t>value: коэффициент заполнения – лежит в пределах от 0 (всегда выключен) до 255 (всегда включен).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07950" y="0"/>
            <a:ext cx="9144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/>
              <a:t>УПРАВЛЕНИЕ С ИСПОЛЬЗОВАНИЕМ ШИМ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0" y="692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b="1"/>
              <a:t>ШИМ =</a:t>
            </a:r>
            <a:r>
              <a:rPr lang="ru-RU" sz="2400"/>
              <a:t> </a:t>
            </a:r>
            <a:r>
              <a:rPr lang="ru-RU" sz="2400" b="1"/>
              <a:t>PWM </a:t>
            </a:r>
            <a:r>
              <a:rPr lang="ru-RU" sz="2400"/>
              <a:t>– широтно-импульсная модуляция</a:t>
            </a:r>
          </a:p>
        </p:txBody>
      </p:sp>
      <p:pic>
        <p:nvPicPr>
          <p:cNvPr id="35846" name="Picture 7" descr="%D0%A8%D0%98%D0%9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67175" y="1341438"/>
            <a:ext cx="4962525" cy="416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7" name="Text Box 8"/>
          <p:cNvSpPr txBox="1">
            <a:spLocks noChangeArrowheads="1"/>
          </p:cNvSpPr>
          <p:nvPr/>
        </p:nvSpPr>
        <p:spPr bwMode="auto">
          <a:xfrm>
            <a:off x="0" y="4221163"/>
            <a:ext cx="399573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/>
              <a:t>Коэффициент заполнения – отношение времени подачи сигнала к периоду ШИМ</a:t>
            </a:r>
          </a:p>
        </p:txBody>
      </p:sp>
      <p:sp>
        <p:nvSpPr>
          <p:cNvPr id="35848" name="Rectangle 10"/>
          <p:cNvSpPr>
            <a:spLocks noChangeArrowheads="1"/>
          </p:cNvSpPr>
          <p:nvPr/>
        </p:nvSpPr>
        <p:spPr bwMode="auto">
          <a:xfrm>
            <a:off x="0" y="5734050"/>
            <a:ext cx="9144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Период ШИМ и частота колебаний устанавливается делителями таймеров</a:t>
            </a:r>
          </a:p>
          <a:p>
            <a:r>
              <a:rPr lang="ru-RU"/>
              <a:t>В </a:t>
            </a:r>
            <a:r>
              <a:rPr lang="en-US"/>
              <a:t>Arduino IDE</a:t>
            </a:r>
            <a:r>
              <a:rPr lang="ru-RU"/>
              <a:t>  это невозможно. Частота ШИМ 490 Гц. Частота колебаний 490х256=125 кГц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4DDB4-1F23-4E91-A2CC-575174688D16}" type="slidenum">
              <a:rPr lang="ru-RU"/>
              <a:pPr>
                <a:defRPr/>
              </a:pPr>
              <a:t>21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288FB21-27E9-4927-9FB8-43DA26778C2D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21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0" y="1828800"/>
            <a:ext cx="914400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>
                <a:hlinkClick r:id="rId2"/>
              </a:rPr>
              <a:t>tone(</a:t>
            </a:r>
            <a:r>
              <a:rPr lang="ru-RU" sz="2400" b="1"/>
              <a:t>pin, frequency, duration</a:t>
            </a:r>
            <a:r>
              <a:rPr lang="ru-RU" sz="2400" b="1">
                <a:hlinkClick r:id="rId2"/>
              </a:rPr>
              <a:t>)</a:t>
            </a:r>
            <a:r>
              <a:rPr lang="ru-RU" sz="2400" b="1"/>
              <a:t>  </a:t>
            </a:r>
            <a:r>
              <a:rPr lang="ru-RU" sz="2000"/>
              <a:t>генерирует единичный сигнал на выходе </a:t>
            </a:r>
            <a:r>
              <a:rPr lang="ru-RU" sz="2000" b="1"/>
              <a:t>pin </a:t>
            </a:r>
            <a:r>
              <a:rPr lang="ru-RU" sz="2000"/>
              <a:t>заданной частоты </a:t>
            </a:r>
            <a:r>
              <a:rPr lang="ru-RU" sz="2000" b="1"/>
              <a:t>frequency</a:t>
            </a:r>
            <a:r>
              <a:rPr lang="ru-RU" sz="2000"/>
              <a:t> в Гц и продолжительности</a:t>
            </a:r>
            <a:r>
              <a:rPr lang="ru-RU" sz="2000" b="1"/>
              <a:t> duration </a:t>
            </a:r>
            <a:r>
              <a:rPr lang="ru-RU" sz="2000"/>
              <a:t>в милисекундах </a:t>
            </a:r>
            <a:r>
              <a:rPr lang="ru-RU" sz="2000" i="1"/>
              <a:t>unsigned long</a:t>
            </a:r>
            <a:r>
              <a:rPr lang="ru-RU" sz="2000" b="1"/>
              <a:t>. </a:t>
            </a:r>
          </a:p>
          <a:p>
            <a:r>
              <a:rPr lang="ru-RU" sz="2000" b="1"/>
              <a:t>Duration </a:t>
            </a:r>
            <a:r>
              <a:rPr lang="ru-RU" sz="2000"/>
              <a:t>может отсутствовать (опционально).</a:t>
            </a:r>
            <a:r>
              <a:rPr lang="ru-RU" sz="2400"/>
              <a:t> </a:t>
            </a:r>
          </a:p>
          <a:p>
            <a:endParaRPr lang="ru-RU" sz="2000"/>
          </a:p>
          <a:p>
            <a:r>
              <a:rPr lang="ru-RU" sz="2400" b="1">
                <a:hlinkClick r:id="rId3"/>
              </a:rPr>
              <a:t>noTone()</a:t>
            </a:r>
            <a:r>
              <a:rPr lang="ru-RU" sz="2400" b="1"/>
              <a:t> </a:t>
            </a:r>
            <a:r>
              <a:rPr lang="ru-RU" sz="2000"/>
              <a:t>Прекращает генерирование прямоугольного сигнала после использования функции </a:t>
            </a:r>
            <a:r>
              <a:rPr lang="ru-RU" sz="2000">
                <a:hlinkClick r:id="rId2"/>
              </a:rPr>
              <a:t>tone()</a:t>
            </a:r>
            <a:r>
              <a:rPr lang="ru-RU" sz="2000"/>
              <a:t>. </a:t>
            </a:r>
            <a:endParaRPr lang="ru-RU" sz="2000" b="1"/>
          </a:p>
          <a:p>
            <a:endParaRPr lang="ru-RU" sz="2000" b="1"/>
          </a:p>
          <a:p>
            <a:endParaRPr lang="ru-RU" sz="2400" b="1"/>
          </a:p>
          <a:p>
            <a:pPr algn="ctr" eaLnBrk="0" hangingPunct="0"/>
            <a:endParaRPr lang="ru-RU" sz="2000">
              <a:latin typeface="Calibri" pitchFamily="34" charset="0"/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/>
              <a:t>РАСШИРЕННЫЙ ВВОД/ВЫВОД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5D9CB7-9F79-4883-B1D8-B1B77984D5AF}" type="slidenum">
              <a:rPr lang="ru-RU"/>
              <a:pPr>
                <a:defRPr/>
              </a:pPr>
              <a:t>22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F606FDD-9440-4196-A984-183B7C69D647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22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0" y="641350"/>
            <a:ext cx="9144000" cy="56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>
                <a:hlinkClick r:id="rId2"/>
              </a:rPr>
              <a:t>millis()</a:t>
            </a:r>
            <a:r>
              <a:rPr lang="ru-RU" sz="2400" b="1"/>
              <a:t> </a:t>
            </a:r>
            <a:r>
              <a:rPr lang="ru-RU"/>
              <a:t>Возвращает количество миллисекунд, прошедших с момента старта программы Ардуино. Возвращаемое число переполнится (сбросится в 0) спустя приблизительно 50 дней. </a:t>
            </a:r>
            <a:endParaRPr lang="en-US"/>
          </a:p>
          <a:p>
            <a:endParaRPr lang="ru-RU" sz="2400" b="1"/>
          </a:p>
          <a:p>
            <a:r>
              <a:rPr lang="ru-RU" sz="2400" b="1">
                <a:hlinkClick r:id="rId3"/>
              </a:rPr>
              <a:t>micros()</a:t>
            </a:r>
            <a:r>
              <a:rPr lang="ru-RU" sz="2400" b="1"/>
              <a:t> </a:t>
            </a:r>
            <a:r>
              <a:rPr lang="ru-RU"/>
              <a:t>Возвращает количество микросекунд, прошедших с момента начала выполнения программы Arduino. Возвращаемое число переполнится (сбросится в 0) спустя приблизительно 70 минут. На платах Arduino с тактовой частотой 16 МГц (Duemilanove и Nano) разрешение этой функции составляет четыре микросекунды (т.е. возвращаемое значение будет всегда кратно четырем). На платах Ардуино с тактовой частотой 8 МГц (LilyPad), разрешение функции составляет восемь микросекунд</a:t>
            </a:r>
            <a:r>
              <a:rPr lang="ru-RU" b="1"/>
              <a:t>.</a:t>
            </a:r>
            <a:r>
              <a:rPr lang="ru-RU"/>
              <a:t> </a:t>
            </a:r>
            <a:endParaRPr lang="en-US"/>
          </a:p>
          <a:p>
            <a:endParaRPr lang="ru-RU" sz="2400" b="1"/>
          </a:p>
          <a:p>
            <a:r>
              <a:rPr lang="ru-RU" sz="2400" b="1">
                <a:hlinkClick r:id="rId4"/>
              </a:rPr>
              <a:t>delay(</a:t>
            </a:r>
            <a:r>
              <a:rPr lang="ru-RU" sz="2400" b="1"/>
              <a:t>ms</a:t>
            </a:r>
            <a:r>
              <a:rPr lang="ru-RU" sz="2400"/>
              <a:t> </a:t>
            </a:r>
            <a:r>
              <a:rPr lang="ru-RU" sz="2400" b="1">
                <a:hlinkClick r:id="rId4"/>
              </a:rPr>
              <a:t>)</a:t>
            </a:r>
            <a:r>
              <a:rPr lang="ru-RU" sz="2400" b="1"/>
              <a:t> </a:t>
            </a:r>
            <a:r>
              <a:rPr lang="ru-RU"/>
              <a:t>Приостанавливает выполнение программы на ms</a:t>
            </a:r>
            <a:r>
              <a:rPr lang="en-US"/>
              <a:t> </a:t>
            </a:r>
            <a:r>
              <a:rPr lang="ru-RU"/>
              <a:t>миллисекунд. (В 1 секунде — 1000 миллисекунд.) </a:t>
            </a:r>
            <a:endParaRPr lang="en-US"/>
          </a:p>
          <a:p>
            <a:endParaRPr lang="ru-RU" sz="2400" b="1"/>
          </a:p>
          <a:p>
            <a:r>
              <a:rPr lang="ru-RU" sz="2400" b="1">
                <a:hlinkClick r:id="rId5"/>
              </a:rPr>
              <a:t>delayMicroseconds(</a:t>
            </a:r>
            <a:r>
              <a:rPr lang="ru-RU" sz="2400" b="1"/>
              <a:t>us</a:t>
            </a:r>
            <a:r>
              <a:rPr lang="ru-RU" sz="2400" b="1">
                <a:hlinkClick r:id="rId5"/>
              </a:rPr>
              <a:t>)</a:t>
            </a:r>
            <a:r>
              <a:rPr lang="ru-RU" sz="2400" b="1"/>
              <a:t> </a:t>
            </a:r>
            <a:r>
              <a:rPr lang="ru-RU"/>
              <a:t>Приостанавливает выполнение программы на us микросекунд. В одной миллисекунде 1000 миллисекунд, и 1 000 000 микросекунд.</a:t>
            </a:r>
          </a:p>
          <a:p>
            <a:r>
              <a:rPr lang="ru-RU"/>
              <a:t>Наибольшее число, позволяющее сформировать точную задержку, — 16383</a:t>
            </a:r>
            <a:r>
              <a:rPr lang="ru-RU" b="1"/>
              <a:t>.</a:t>
            </a:r>
            <a:endParaRPr lang="ru-RU" sz="2400" b="1">
              <a:latin typeface="Calibri" pitchFamily="34" charset="0"/>
            </a:endParaRP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/>
              <a:t>Время</a:t>
            </a:r>
            <a:endParaRPr lang="ru-RU"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A3DE35-FA07-48FE-8C8A-7A1D277D1011}" type="slidenum">
              <a:rPr lang="ru-RU"/>
              <a:pPr>
                <a:defRPr/>
              </a:pPr>
              <a:t>23</a:t>
            </a:fld>
            <a:endParaRPr lang="ru-RU"/>
          </a:p>
        </p:txBody>
      </p:sp>
      <p:sp>
        <p:nvSpPr>
          <p:cNvPr id="38914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240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/>
              <a:t>ВНЕШНИЕ ПРЕРЫВАНИЯ</a:t>
            </a:r>
          </a:p>
          <a:p>
            <a:pPr algn="ctr"/>
            <a:endParaRPr lang="ru-RU" sz="2800" b="1"/>
          </a:p>
          <a:p>
            <a:pPr algn="ctr"/>
            <a:r>
              <a:rPr lang="ru-RU" sz="2400"/>
              <a:t>Внутренние прерывания по возникают по таймеру, </a:t>
            </a:r>
          </a:p>
          <a:p>
            <a:r>
              <a:rPr lang="ru-RU" sz="2400"/>
              <a:t>внешние прерывания – прерывания возникают по  приходу сигнала на ножку Ардуино. </a:t>
            </a:r>
          </a:p>
          <a:p>
            <a:r>
              <a:rPr lang="ru-RU" sz="2400"/>
              <a:t>В Ардуине нано их 2: 0 и 1 (ножки 2 и 3).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827088" y="3644900"/>
            <a:ext cx="201612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/>
              <a:t>Программа</a:t>
            </a:r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2843213" y="3716338"/>
            <a:ext cx="1728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2916238" y="3284538"/>
            <a:ext cx="29511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Сигнал прерывания</a:t>
            </a:r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2268538" y="4005263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755650" y="4941888"/>
            <a:ext cx="295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116013" y="4941888"/>
            <a:ext cx="2376487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/>
              <a:t>Сохранение текущего состояния программы</a:t>
            </a: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5795963" y="3716338"/>
            <a:ext cx="273685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/>
              <a:t>Подпрограмма обработки прерывания</a:t>
            </a:r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 flipV="1">
            <a:off x="2843213" y="4005263"/>
            <a:ext cx="28813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4067175" y="4941888"/>
            <a:ext cx="2592388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/>
              <a:t>Восстановление сохраненного состояния программы</a:t>
            </a:r>
          </a:p>
        </p:txBody>
      </p:sp>
      <p:sp>
        <p:nvSpPr>
          <p:cNvPr id="38927" name="Line 15"/>
          <p:cNvSpPr>
            <a:spLocks noChangeShapeType="1"/>
          </p:cNvSpPr>
          <p:nvPr/>
        </p:nvSpPr>
        <p:spPr bwMode="auto">
          <a:xfrm>
            <a:off x="6011863" y="43656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38928" name="Line 16"/>
          <p:cNvSpPr>
            <a:spLocks noChangeShapeType="1"/>
          </p:cNvSpPr>
          <p:nvPr/>
        </p:nvSpPr>
        <p:spPr bwMode="auto">
          <a:xfrm flipH="1" flipV="1">
            <a:off x="2555875" y="4005263"/>
            <a:ext cx="1439863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5219700" y="3429000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1</a:t>
            </a:r>
          </a:p>
        </p:txBody>
      </p:sp>
      <p:sp>
        <p:nvSpPr>
          <p:cNvPr id="38930" name="Text Box 18"/>
          <p:cNvSpPr txBox="1">
            <a:spLocks noChangeArrowheads="1"/>
          </p:cNvSpPr>
          <p:nvPr/>
        </p:nvSpPr>
        <p:spPr bwMode="auto">
          <a:xfrm>
            <a:off x="1331913" y="4365625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2</a:t>
            </a:r>
          </a:p>
        </p:txBody>
      </p:sp>
      <p:sp>
        <p:nvSpPr>
          <p:cNvPr id="38931" name="Text Box 19"/>
          <p:cNvSpPr txBox="1">
            <a:spLocks noChangeArrowheads="1"/>
          </p:cNvSpPr>
          <p:nvPr/>
        </p:nvSpPr>
        <p:spPr bwMode="auto">
          <a:xfrm>
            <a:off x="4356100" y="4076700"/>
            <a:ext cx="503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3</a:t>
            </a:r>
          </a:p>
        </p:txBody>
      </p: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6372225" y="4437063"/>
            <a:ext cx="720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4</a:t>
            </a:r>
          </a:p>
        </p:txBody>
      </p:sp>
      <p:sp>
        <p:nvSpPr>
          <p:cNvPr id="38933" name="Text Box 21"/>
          <p:cNvSpPr txBox="1">
            <a:spLocks noChangeArrowheads="1"/>
          </p:cNvSpPr>
          <p:nvPr/>
        </p:nvSpPr>
        <p:spPr bwMode="auto">
          <a:xfrm>
            <a:off x="3419475" y="4149725"/>
            <a:ext cx="503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BD299C-E6DF-4ACD-BA1E-8E42223D3BC5}" type="slidenum">
              <a:rPr lang="ru-RU"/>
              <a:pPr>
                <a:defRPr/>
              </a:pPr>
              <a:t>24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57221E6-D292-4470-8DEC-3B247522AE8C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24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9939" name="Rectangle 4"/>
          <p:cNvSpPr>
            <a:spLocks noChangeArrowheads="1"/>
          </p:cNvSpPr>
          <p:nvPr/>
        </p:nvSpPr>
        <p:spPr bwMode="auto">
          <a:xfrm>
            <a:off x="0" y="765175"/>
            <a:ext cx="9144000" cy="569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 sz="2400" b="1">
                <a:hlinkClick r:id="rId2"/>
              </a:rPr>
              <a:t>attachInterrupt(</a:t>
            </a:r>
            <a:r>
              <a:rPr lang="ru-RU" b="1"/>
              <a:t>interrupt, function, mode</a:t>
            </a:r>
            <a:r>
              <a:rPr lang="ru-RU" sz="2400" b="1">
                <a:hlinkClick r:id="rId2"/>
              </a:rPr>
              <a:t>)</a:t>
            </a:r>
            <a:r>
              <a:rPr lang="en-US" sz="2000" b="1"/>
              <a:t> </a:t>
            </a:r>
            <a:r>
              <a:rPr lang="ru-RU" sz="2000"/>
              <a:t>вызов обработчика прерывания</a:t>
            </a:r>
            <a:endParaRPr lang="en-US" sz="2000"/>
          </a:p>
          <a:p>
            <a:r>
              <a:rPr lang="ru-RU" sz="2000" b="1"/>
              <a:t>interrupt:</a:t>
            </a:r>
            <a:r>
              <a:rPr lang="ru-RU" sz="2000"/>
              <a:t>номер прерывания (</a:t>
            </a:r>
            <a:r>
              <a:rPr lang="ru-RU" sz="2000" i="1"/>
              <a:t>int</a:t>
            </a:r>
            <a:r>
              <a:rPr lang="ru-RU" sz="2000"/>
              <a:t>)</a:t>
            </a:r>
          </a:p>
          <a:p>
            <a:r>
              <a:rPr lang="ru-RU" sz="2000" b="1"/>
              <a:t>function:</a:t>
            </a:r>
            <a:r>
              <a:rPr lang="ru-RU" sz="2000"/>
              <a:t>функция, которую необходимо вызвать при возникновении прерывания; эта функция должна быть без параметров и не возвращать никаких значений. Такую функцию иногда называют </a:t>
            </a:r>
            <a:r>
              <a:rPr lang="ru-RU" sz="2000" i="1"/>
              <a:t>обработчиком прерывания</a:t>
            </a:r>
            <a:r>
              <a:rPr lang="ru-RU" sz="2000"/>
              <a:t>.</a:t>
            </a:r>
          </a:p>
          <a:p>
            <a:r>
              <a:rPr lang="ru-RU" sz="2000" b="1"/>
              <a:t>mode:</a:t>
            </a:r>
            <a:r>
              <a:rPr lang="ru-RU" sz="2000"/>
              <a:t>определяет условие, при котором должно срабатывать прерывание. Может принимать одно из четырех предопределенных значений:</a:t>
            </a:r>
          </a:p>
          <a:p>
            <a:r>
              <a:rPr lang="ru-RU" sz="2000" b="1"/>
              <a:t>LOW </a:t>
            </a:r>
            <a:r>
              <a:rPr lang="ru-RU" sz="2000"/>
              <a:t>— прерывание будет срабатывать всякий раз, когда на выводе присутствует низкий уровень сигнала</a:t>
            </a:r>
          </a:p>
          <a:p>
            <a:r>
              <a:rPr lang="ru-RU" sz="2000" b="1"/>
              <a:t>CHANGE </a:t>
            </a:r>
            <a:r>
              <a:rPr lang="ru-RU" sz="2000"/>
              <a:t>— прерывание будет срабатывать всякий раз, когда меняется состояние вывода</a:t>
            </a:r>
          </a:p>
          <a:p>
            <a:r>
              <a:rPr lang="ru-RU" sz="2000" b="1"/>
              <a:t>RISING </a:t>
            </a:r>
            <a:r>
              <a:rPr lang="ru-RU" sz="2000"/>
              <a:t>— прерывание сработает, когда состояние вывода изменится с низкого уровня на высокий</a:t>
            </a:r>
          </a:p>
          <a:p>
            <a:r>
              <a:rPr lang="ru-RU" sz="2000" b="1"/>
              <a:t>FALLING </a:t>
            </a:r>
            <a:r>
              <a:rPr lang="ru-RU" sz="2000"/>
              <a:t>— прерывание сработает, когда состояние вывода изменится с высокого уровня на низкий.</a:t>
            </a:r>
          </a:p>
          <a:p>
            <a:pPr>
              <a:buFontTx/>
              <a:buChar char="•"/>
            </a:pPr>
            <a:endParaRPr lang="en-US" sz="2000"/>
          </a:p>
          <a:p>
            <a:r>
              <a:rPr lang="ru-RU" sz="2400" b="1">
                <a:hlinkClick r:id="rId3"/>
              </a:rPr>
              <a:t>detachInterrupt(</a:t>
            </a:r>
            <a:r>
              <a:rPr lang="ru-RU" sz="2400" b="1"/>
              <a:t>interrupt</a:t>
            </a:r>
            <a:r>
              <a:rPr lang="ru-RU" sz="2400" b="1">
                <a:hlinkClick r:id="rId3"/>
              </a:rPr>
              <a:t>)</a:t>
            </a:r>
            <a:r>
              <a:rPr lang="ru-RU"/>
              <a:t> Запрет прерывания с номером </a:t>
            </a:r>
            <a:r>
              <a:rPr lang="ru-RU" b="1"/>
              <a:t>interrupt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835150" y="0"/>
            <a:ext cx="5400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/>
              <a:t>ОБРАБОТКА ПРЕРЫВАНИЯ</a:t>
            </a:r>
            <a:endParaRPr lang="ru-RU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C57EF7-A50F-4407-B20A-F1280701643C}" type="slidenum">
              <a:rPr lang="ru-RU"/>
              <a:pPr>
                <a:defRPr/>
              </a:pPr>
              <a:t>25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4257D37-4D1A-4F2C-AF84-7A65CC1A407A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25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0" y="260350"/>
            <a:ext cx="9144000" cy="271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 sz="2800" b="1"/>
              <a:t>РАЗРЕШЕНИЕ/ЗАПРЕТ ПРЕРЫВАНИЙ</a:t>
            </a:r>
          </a:p>
          <a:p>
            <a:pPr algn="ctr"/>
            <a:endParaRPr lang="ru-RU"/>
          </a:p>
          <a:p>
            <a:pPr algn="ctr"/>
            <a:endParaRPr lang="ru-RU"/>
          </a:p>
          <a:p>
            <a:pPr algn="ctr"/>
            <a:endParaRPr lang="ru-RU"/>
          </a:p>
          <a:p>
            <a:r>
              <a:rPr lang="ru-RU" sz="2400" b="1">
                <a:hlinkClick r:id="rId2"/>
              </a:rPr>
              <a:t>interrupts()</a:t>
            </a:r>
            <a:r>
              <a:rPr lang="ru-RU" sz="2400"/>
              <a:t> Разрешает какие-либо прерывания</a:t>
            </a:r>
          </a:p>
          <a:p>
            <a:endParaRPr lang="ru-RU" sz="2400"/>
          </a:p>
          <a:p>
            <a:r>
              <a:rPr lang="ru-RU" sz="2400" b="1">
                <a:hlinkClick r:id="rId3"/>
              </a:rPr>
              <a:t>noInterrupts()</a:t>
            </a:r>
            <a:r>
              <a:rPr lang="ru-RU" sz="2400"/>
              <a:t> Запрещает какие-либо прерывания</a:t>
            </a:r>
          </a:p>
          <a:p>
            <a:pPr algn="ctr" eaLnBrk="0" hangingPunct="0"/>
            <a:endParaRPr lang="ru-RU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7817A-68A7-468A-8A35-4BF966D556FC}" type="slidenum">
              <a:rPr lang="ru-RU"/>
              <a:pPr>
                <a:defRPr/>
              </a:pPr>
              <a:t>26</a:t>
            </a:fld>
            <a:endParaRPr lang="ru-RU"/>
          </a:p>
        </p:txBody>
      </p:sp>
      <p:sp>
        <p:nvSpPr>
          <p:cNvPr id="4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7356794-C262-4E36-94AF-1A2D1D1C64F4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26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549275"/>
          </a:xfrm>
        </p:spPr>
        <p:txBody>
          <a:bodyPr/>
          <a:lstStyle/>
          <a:p>
            <a:pPr eaLnBrk="1" hangingPunct="1"/>
            <a:r>
              <a:rPr lang="ru-RU" sz="4000" b="1" smtClean="0"/>
              <a:t>Библиотеки Arduino</a:t>
            </a:r>
          </a:p>
        </p:txBody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0" y="620713"/>
            <a:ext cx="9144000" cy="62372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  <a:hlinkClick r:id="rId2"/>
              </a:rPr>
              <a:t>Serial</a:t>
            </a:r>
            <a:r>
              <a:rPr lang="ru-RU" sz="2000" b="1" smtClean="0">
                <a:latin typeface="Arial" charset="0"/>
              </a:rPr>
              <a:t> — Библиотека для обмена данными через последовательный порт (UART).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  <a:hlinkClick r:id="rId3"/>
              </a:rPr>
              <a:t>Servo</a:t>
            </a:r>
            <a:r>
              <a:rPr lang="ru-RU" sz="2000" b="1" smtClean="0">
                <a:latin typeface="Arial" charset="0"/>
              </a:rPr>
              <a:t> — Библиотека для легкого и точного управления сервоприводами.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  <a:hlinkClick r:id="rId4"/>
              </a:rPr>
              <a:t>Wire</a:t>
            </a:r>
            <a:r>
              <a:rPr lang="ru-RU" sz="2000" b="1" smtClean="0">
                <a:latin typeface="Arial" charset="0"/>
              </a:rPr>
              <a:t> — Библиотека для работы с интерфейсами связи TWI/I2C. Упрощает обмен данными с устройствами, датчиками и сенсорами.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WiFi — Подключение к интернету с использованием WiFi шилда.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TFT — Нужна для отрисовки текста, изображений и картинок на TFT дисплее Arduino.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Stepper — Библиотека для управления шаговыми моторами.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LiquidCrystal — Для работы Arduino с жидкокристаллическими экранами (LCD)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Ethernet — Для подключения к интернету с использованием </a:t>
            </a:r>
            <a:r>
              <a:rPr lang="ru-RU" sz="2000" b="1" smtClean="0">
                <a:latin typeface="Arial" charset="0"/>
                <a:hlinkClick r:id="rId5"/>
              </a:rPr>
              <a:t>Arduino Ethernet shield</a:t>
            </a:r>
            <a:r>
              <a:rPr lang="ru-RU" sz="2000" b="1" smtClean="0">
                <a:latin typeface="Arial" charset="0"/>
              </a:rPr>
              <a:t>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solidFill>
                  <a:srgbClr val="009900"/>
                </a:solidFill>
                <a:latin typeface="Arial" charset="0"/>
              </a:rPr>
              <a:t>SD</a:t>
            </a:r>
            <a:r>
              <a:rPr lang="ru-RU" sz="2000" b="1" smtClean="0">
                <a:latin typeface="Arial" charset="0"/>
              </a:rPr>
              <a:t> — Библиотека для записи и считывания информации с SD карт памяти.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latin typeface="Arial" charset="0"/>
              </a:rPr>
              <a:t>GSM — Библиотека для подключения Ардуино к GSM сети. Необходима для отправки и получения SMS и звонков, а так же для выхода в интернет с помощью GPRS. Используется с </a:t>
            </a:r>
            <a:r>
              <a:rPr lang="ru-RU" sz="2000" b="1" smtClean="0">
                <a:latin typeface="Arial" charset="0"/>
                <a:hlinkClick r:id="rId6"/>
              </a:rPr>
              <a:t>GSM shield</a:t>
            </a:r>
            <a:r>
              <a:rPr lang="ru-RU" sz="2000" b="1" smtClean="0">
                <a:latin typeface="Arial" charset="0"/>
              </a:rPr>
              <a:t>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 sz="2000" b="1" smtClean="0">
                <a:solidFill>
                  <a:srgbClr val="009900"/>
                </a:solidFill>
                <a:latin typeface="Arial" charset="0"/>
              </a:rPr>
              <a:t>EEPROM</a:t>
            </a:r>
            <a:r>
              <a:rPr lang="ru-RU" sz="2000" b="1" smtClean="0">
                <a:latin typeface="Arial" charset="0"/>
              </a:rPr>
              <a:t> — Библиотека для чтения и записи в энергонезависимую память Arduino.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55FF9A-784A-4138-B619-5197BF0826E5}" type="slidenum">
              <a:rPr lang="ru-RU"/>
              <a:pPr>
                <a:defRPr/>
              </a:pPr>
              <a:t>27</a:t>
            </a:fld>
            <a:endParaRPr lang="ru-RU"/>
          </a:p>
        </p:txBody>
      </p:sp>
      <p:sp>
        <p:nvSpPr>
          <p:cNvPr id="5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99D687-3CA0-4172-B93B-6022DDEF3155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27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0974" name="Rectangle 4"/>
          <p:cNvSpPr>
            <a:spLocks noChangeArrowheads="1"/>
          </p:cNvSpPr>
          <p:nvPr/>
        </p:nvSpPr>
        <p:spPr bwMode="auto">
          <a:xfrm>
            <a:off x="0" y="765175"/>
            <a:ext cx="7380288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/>
              <a:t>Библиотека Serial — это стандартная библиотека, которая подключается в скетчи автоматически. </a:t>
            </a:r>
          </a:p>
          <a:p>
            <a:r>
              <a:rPr lang="ru-RU" sz="2400" b="1"/>
              <a:t>Она используется для передачи данных через последовательный порт Arduino.</a:t>
            </a:r>
          </a:p>
          <a:p>
            <a:r>
              <a:rPr lang="ru-RU" sz="2400" b="1"/>
              <a:t>Последовательный порт работает</a:t>
            </a:r>
          </a:p>
          <a:p>
            <a:r>
              <a:rPr lang="ru-RU" sz="2400" b="1"/>
              <a:t>с двумя цифровыми пинами Ардуино:</a:t>
            </a:r>
          </a:p>
          <a:p>
            <a:r>
              <a:rPr lang="ru-RU" sz="2400" b="1"/>
              <a:t>0-й (RX) и 1-й (TX). </a:t>
            </a:r>
          </a:p>
        </p:txBody>
      </p:sp>
      <p:sp>
        <p:nvSpPr>
          <p:cNvPr id="40975" name="Rectangle 5"/>
          <p:cNvSpPr>
            <a:spLocks noChangeArrowheads="1"/>
          </p:cNvSpPr>
          <p:nvPr/>
        </p:nvSpPr>
        <p:spPr bwMode="auto">
          <a:xfrm>
            <a:off x="0" y="4224338"/>
            <a:ext cx="9144000" cy="234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800" b="1"/>
              <a:t>if(Serial)</a:t>
            </a:r>
          </a:p>
          <a:p>
            <a:r>
              <a:rPr lang="ru-RU" sz="2400" b="1"/>
              <a:t>Условие проверки готовности порта к работе. Нужна, когда, например, если кабель может быть не подключен</a:t>
            </a:r>
          </a:p>
          <a:p>
            <a:endParaRPr lang="ru-RU" sz="2400" b="1"/>
          </a:p>
          <a:p>
            <a:r>
              <a:rPr lang="ru-RU" sz="2400" b="1"/>
              <a:t>if(!Serial) {</a:t>
            </a:r>
            <a:r>
              <a:rPr lang="ru-RU" sz="2000" i="1"/>
              <a:t>/* Блок кода, которой будет исполняться, если Serial интерфейс не доступен */</a:t>
            </a:r>
            <a:r>
              <a:rPr lang="ru-RU" sz="2400" b="1"/>
              <a:t> }</a:t>
            </a:r>
          </a:p>
        </p:txBody>
      </p:sp>
      <p:sp>
        <p:nvSpPr>
          <p:cNvPr id="40976" name="Rectangle 6"/>
          <p:cNvSpPr>
            <a:spLocks/>
          </p:cNvSpPr>
          <p:nvPr/>
        </p:nvSpPr>
        <p:spPr bwMode="auto">
          <a:xfrm>
            <a:off x="0" y="0"/>
            <a:ext cx="709295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ru-RU" sz="3200" b="1">
                <a:latin typeface="Calibri" pitchFamily="34" charset="0"/>
              </a:rPr>
              <a:t>Библиотека </a:t>
            </a:r>
            <a:r>
              <a:rPr lang="ru-RU" sz="3200" b="1">
                <a:hlinkClick r:id="rId3"/>
              </a:rPr>
              <a:t>Serial</a:t>
            </a:r>
            <a:endParaRPr lang="ru-RU" sz="3200" b="1"/>
          </a:p>
        </p:txBody>
      </p:sp>
      <p:sp>
        <p:nvSpPr>
          <p:cNvPr id="40977" name="AutoShape 6" descr="arduino_nano_v_3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0978" name="AutoShape 8" descr="arduino_nano_v_3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7059613" y="0"/>
          <a:ext cx="2084387" cy="467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6" name="Image" r:id="rId4" imgW="4584127" imgH="10298413" progId="Photoshop.Image.7">
                  <p:embed/>
                </p:oleObj>
              </mc:Choice>
              <mc:Fallback>
                <p:oleObj name="Image" r:id="rId4" imgW="4584127" imgH="10298413" progId="Photoshop.Image.7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9613" y="0"/>
                        <a:ext cx="2084387" cy="467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D8EBAF-A184-44FE-9259-B97C926A7FAD}" type="slidenum">
              <a:rPr lang="ru-RU"/>
              <a:pPr>
                <a:defRPr/>
              </a:pPr>
              <a:t>28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A2381F6C-6922-4A02-A196-FE35E3D14A07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28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5059" name="Rectangle 4"/>
          <p:cNvSpPr>
            <a:spLocks noChangeArrowheads="1"/>
          </p:cNvSpPr>
          <p:nvPr/>
        </p:nvSpPr>
        <p:spPr bwMode="auto">
          <a:xfrm>
            <a:off x="0" y="836613"/>
            <a:ext cx="9144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/>
              <a:t>Serial.begin(speed, config)</a:t>
            </a:r>
          </a:p>
          <a:p>
            <a:pPr algn="ctr"/>
            <a:r>
              <a:rPr lang="ru-RU" sz="2000"/>
              <a:t>Устанавливает соединение на определенной скорости.</a:t>
            </a:r>
            <a:endParaRPr lang="ru-RU" sz="2000" b="1"/>
          </a:p>
          <a:p>
            <a:pPr algn="ctr"/>
            <a:r>
              <a:rPr lang="ru-RU" sz="2000" b="1"/>
              <a:t>Параметры</a:t>
            </a:r>
          </a:p>
          <a:p>
            <a:pPr algn="ctr"/>
            <a:r>
              <a:rPr lang="ru-RU" sz="2000"/>
              <a:t>speed — Обязательный параметр. Скорость бит в секунду (бод). Доступные значения: 300, 600, 1200, 2400, 4800, 9600, 14400, 19200, 28800, 38400, 57600 или 115200</a:t>
            </a:r>
          </a:p>
          <a:p>
            <a:pPr algn="ctr"/>
            <a:r>
              <a:rPr lang="ru-RU" sz="2000"/>
              <a:t>config — Необязательный параметр. Задает биты данных, биты четности и стоп-биты. Доступные значения: SERIAL_5N1, SERIAL_6N1, SERIAL_7N1, SERIAL_8N1 (это значение задано по умолчанию), SERIAL_5N2, SERIAL_6N2, SERIAL_7N2, SERIAL_8N2, SERIAL_5E1, SERIAL_6E1, SERIAL_7E1, SERIAL_8E1, SERIAL_5E2, SERIAL_6E2, SERIAL_7E2, SERIAL_8E2, SERIAL_5O1, SERIAL_6O1, SERIAL_7O1, SERIAL_8O1, SERIAL_5O2, SERIAL_6O2, SERIAL_7O2, SERIAL_8O2</a:t>
            </a:r>
            <a:endParaRPr lang="ru-RU" sz="2000" b="1"/>
          </a:p>
          <a:p>
            <a:pPr algn="ctr"/>
            <a:r>
              <a:rPr lang="ru-RU" sz="2000" b="1"/>
              <a:t>Возвращаемые значения </a:t>
            </a:r>
            <a:r>
              <a:rPr lang="ru-RU" sz="2000"/>
              <a:t>Нет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B29BFF-98A9-460C-9720-CD58FAFE3EBF}" type="slidenum">
              <a:rPr lang="ru-RU"/>
              <a:pPr>
                <a:defRPr/>
              </a:pPr>
              <a:t>29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D61223F-9AEE-4CCB-B7ED-691B15AE75FE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29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0" y="0"/>
            <a:ext cx="9144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/>
              <a:t>Serial.read()</a:t>
            </a:r>
          </a:p>
          <a:p>
            <a:r>
              <a:rPr lang="ru-RU" sz="2000"/>
              <a:t>Считывает данные из последовательного порта.</a:t>
            </a:r>
          </a:p>
          <a:p>
            <a:r>
              <a:rPr lang="ru-RU" sz="2000" b="1"/>
              <a:t>Возвращаемые значения</a:t>
            </a:r>
            <a:r>
              <a:rPr lang="en-US" sz="2000" b="1"/>
              <a:t>:</a:t>
            </a:r>
            <a:r>
              <a:rPr lang="ru-RU" sz="2000" b="1"/>
              <a:t> Первый доступный байт (int).</a:t>
            </a:r>
          </a:p>
          <a:p>
            <a:endParaRPr lang="ru-RU" sz="2000" b="1"/>
          </a:p>
          <a:p>
            <a:r>
              <a:rPr lang="ru-RU" sz="2000" b="1"/>
              <a:t>void setup() { Serial.begin(9600); </a:t>
            </a:r>
            <a:r>
              <a:rPr lang="ru-RU" sz="2000" i="1"/>
              <a:t>// Установка соединения на скорости передачи данных на 9600 бит/сек</a:t>
            </a:r>
            <a:r>
              <a:rPr lang="ru-RU" sz="2000" b="1"/>
              <a:t> } </a:t>
            </a:r>
          </a:p>
          <a:p>
            <a:r>
              <a:rPr lang="ru-RU" sz="2000" b="1"/>
              <a:t>void loop() { if(Serial.availeble() &gt; 0) { int incoming = Serial.read();</a:t>
            </a:r>
          </a:p>
          <a:p>
            <a:r>
              <a:rPr lang="ru-RU" sz="2000" i="1"/>
              <a:t>// Считываем первый входящий байт</a:t>
            </a:r>
            <a:r>
              <a:rPr lang="ru-RU" sz="2000" b="1"/>
              <a:t> } 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0" y="311150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/>
              <a:t>Serial.peek();</a:t>
            </a:r>
          </a:p>
          <a:p>
            <a:r>
              <a:rPr lang="ru-RU" sz="2000"/>
              <a:t>Возвращает первый байт данных из буфера.</a:t>
            </a:r>
            <a:endParaRPr lang="ru-RU" sz="2000" b="1"/>
          </a:p>
          <a:p>
            <a:r>
              <a:rPr lang="ru-RU" sz="2000" b="1"/>
              <a:t>Возвращаемые значения</a:t>
            </a:r>
            <a:r>
              <a:rPr lang="en-US" sz="2000" b="1"/>
              <a:t>:</a:t>
            </a:r>
            <a:endParaRPr lang="ru-RU" sz="2000" b="1"/>
          </a:p>
          <a:p>
            <a:r>
              <a:rPr lang="ru-RU" sz="2000"/>
              <a:t>Первый байт входящих последовательных данных (int). Если данных нет то вернет «-1»</a:t>
            </a:r>
            <a:endParaRPr lang="ru-RU" sz="20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1A25AD-C5E6-4C52-8BAE-10A3B5EA1499}" type="slidenum">
              <a:rPr lang="ru-RU"/>
              <a:pPr>
                <a:defRPr/>
              </a:pPr>
              <a:t>30</a:t>
            </a:fld>
            <a:endParaRPr lang="ru-RU"/>
          </a:p>
        </p:txBody>
      </p:sp>
      <p:sp>
        <p:nvSpPr>
          <p:cNvPr id="47106" name="Rectangle 4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/>
              <a:t>S</a:t>
            </a:r>
            <a:r>
              <a:rPr lang="ru-RU" sz="2400" b="1"/>
              <a:t>erialEvent()</a:t>
            </a:r>
          </a:p>
          <a:p>
            <a:r>
              <a:rPr lang="ru-RU" sz="2000"/>
              <a:t>Автоматически вызывается, когда есть доступные данные. Для захвата этих данных нужно воспользоваться функцией Serial.read().</a:t>
            </a:r>
          </a:p>
        </p:txBody>
      </p:sp>
      <p:sp>
        <p:nvSpPr>
          <p:cNvPr id="47107" name="Rectangle 5"/>
          <p:cNvSpPr>
            <a:spLocks noChangeArrowheads="1"/>
          </p:cNvSpPr>
          <p:nvPr/>
        </p:nvSpPr>
        <p:spPr bwMode="auto">
          <a:xfrm>
            <a:off x="0" y="1268413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/>
              <a:t>Serial.available()</a:t>
            </a:r>
          </a:p>
          <a:p>
            <a:r>
              <a:rPr lang="ru-RU" sz="2000"/>
              <a:t>Проверяет число байтов доступных для считывания. Данная функция показывает какое количество данных уже пришло и хранится в буфере обмена. Размер буфера последовательного порта 64 байта.</a:t>
            </a:r>
          </a:p>
          <a:p>
            <a:r>
              <a:rPr lang="ru-RU" sz="2000" b="1"/>
              <a:t>Возвращаемые значения:</a:t>
            </a:r>
            <a:r>
              <a:rPr lang="ru-RU" sz="2000"/>
              <a:t> Число байт доступных для чтения</a:t>
            </a:r>
          </a:p>
        </p:txBody>
      </p:sp>
      <p:sp>
        <p:nvSpPr>
          <p:cNvPr id="47108" name="Rectangle 6"/>
          <p:cNvSpPr>
            <a:spLocks noChangeArrowheads="1"/>
          </p:cNvSpPr>
          <p:nvPr/>
        </p:nvSpPr>
        <p:spPr bwMode="auto">
          <a:xfrm>
            <a:off x="0" y="3068638"/>
            <a:ext cx="91440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/>
              <a:t>void setup() { Serial.begin(9600); </a:t>
            </a:r>
            <a:r>
              <a:rPr lang="ru-RU" sz="2000" i="1"/>
              <a:t>/* установка соединения на скорости 9600 бод */</a:t>
            </a:r>
            <a:r>
              <a:rPr lang="ru-RU" sz="2000" b="1"/>
              <a:t> } </a:t>
            </a:r>
          </a:p>
          <a:p>
            <a:r>
              <a:rPr lang="ru-RU" sz="2000" b="1"/>
              <a:t>void loop() { while(Serial.available() &lt; 1) { </a:t>
            </a:r>
            <a:r>
              <a:rPr lang="ru-RU" sz="2000"/>
              <a:t>/* </a:t>
            </a:r>
            <a:r>
              <a:rPr lang="ru-RU" sz="2000" i="1"/>
              <a:t>Ждем пока не придут данные */</a:t>
            </a:r>
          </a:p>
          <a:p>
            <a:r>
              <a:rPr lang="ru-RU" sz="2000" b="1"/>
              <a:t>delay(10); } </a:t>
            </a:r>
            <a:endParaRPr lang="ru-RU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E6D37A-8596-40B7-AC21-4C3A0B3211B9}" type="slidenum">
              <a:rPr lang="ru-RU"/>
              <a:pPr>
                <a:defRPr/>
              </a:pPr>
              <a:t>31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70B0559F-16FF-4E0D-B83F-CC7489981037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31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0" y="333375"/>
            <a:ext cx="9144000" cy="326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/>
              <a:t>Serial.write(val, len</a:t>
            </a:r>
            <a:r>
              <a:rPr lang="ru-RU" sz="2800" b="1"/>
              <a:t>)</a:t>
            </a:r>
          </a:p>
          <a:p>
            <a:r>
              <a:rPr lang="ru-RU" sz="2000"/>
              <a:t>Передает через последовательный порт данные в двоичном виде. Данные передаются как байт или как серия байтов. Если вам нужно отправить символы, представляющие цифры какого-либо числа, используйте функцию print().</a:t>
            </a:r>
          </a:p>
          <a:p>
            <a:pPr algn="ctr"/>
            <a:r>
              <a:rPr lang="ru-RU" sz="2000" b="1"/>
              <a:t>Параметры</a:t>
            </a:r>
          </a:p>
          <a:p>
            <a:r>
              <a:rPr lang="ru-RU" sz="2000" b="1"/>
              <a:t>val — </a:t>
            </a:r>
            <a:r>
              <a:rPr lang="ru-RU" sz="2000"/>
              <a:t>значение, строка или буфер для отправки.</a:t>
            </a:r>
          </a:p>
          <a:p>
            <a:r>
              <a:rPr lang="ru-RU" sz="2000"/>
              <a:t>len — размер буфера, </a:t>
            </a:r>
            <a:r>
              <a:rPr lang="ru-RU" sz="2000" b="1"/>
              <a:t>если один символ, то параметр опускается</a:t>
            </a:r>
          </a:p>
          <a:p>
            <a:pPr algn="ctr"/>
            <a:endParaRPr lang="en-US" sz="2000" b="1"/>
          </a:p>
          <a:p>
            <a:pPr algn="ctr"/>
            <a:r>
              <a:rPr lang="ru-RU" sz="2000" b="1"/>
              <a:t>Возвращаемые значения: </a:t>
            </a:r>
            <a:r>
              <a:rPr lang="ru-RU" sz="2000"/>
              <a:t>Байт или количество отправленных байтов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87326B-50EA-49FE-8F4C-F9F9F1A8B34B}" type="slidenum">
              <a:rPr lang="ru-RU"/>
              <a:pPr>
                <a:defRPr/>
              </a:pPr>
              <a:t>32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A940DA7C-64D4-423C-881F-0DA7EF683B4C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32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9155" name="Rectangle 5"/>
          <p:cNvSpPr>
            <a:spLocks noChangeArrowheads="1"/>
          </p:cNvSpPr>
          <p:nvPr/>
        </p:nvSpPr>
        <p:spPr bwMode="auto">
          <a:xfrm>
            <a:off x="0" y="0"/>
            <a:ext cx="8785225" cy="326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/>
              <a:t>Serial.availableForWrite()</a:t>
            </a:r>
          </a:p>
          <a:p>
            <a:r>
              <a:rPr lang="ru-RU" sz="2000"/>
              <a:t>Проверяет число байтов доступных для записи в буфер обмена, без блокировки функции записи.</a:t>
            </a:r>
            <a:endParaRPr lang="ru-RU" sz="2000" b="1"/>
          </a:p>
          <a:p>
            <a:r>
              <a:rPr lang="ru-RU" sz="2000" b="1"/>
              <a:t>Возвращаемые значения </a:t>
            </a:r>
            <a:r>
              <a:rPr lang="ru-RU" sz="2000"/>
              <a:t>Число байт доступных для записи</a:t>
            </a:r>
          </a:p>
          <a:p>
            <a:pPr algn="ctr"/>
            <a:endParaRPr lang="ru-RU" sz="2000"/>
          </a:p>
          <a:p>
            <a:pPr algn="ctr"/>
            <a:endParaRPr lang="ru-RU" sz="2400"/>
          </a:p>
          <a:p>
            <a:r>
              <a:rPr lang="ru-RU" sz="2000"/>
              <a:t>void setup() { Serial.begin(9600); /* установка соединения на скорости 9600 бод */ } </a:t>
            </a:r>
          </a:p>
          <a:p>
            <a:r>
              <a:rPr lang="ru-RU" sz="2000"/>
              <a:t>void loop() { if(Serial.availableForWrite() &lt; 1) { /* Ждем пока не уйдут данные */ Serial.flush(); /* Очищаем буфер обмена */ } } 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0" y="3860800"/>
            <a:ext cx="9144000" cy="216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1"/>
              <a:t>Serial.flush();</a:t>
            </a:r>
          </a:p>
          <a:p>
            <a:r>
              <a:rPr lang="ru-RU" sz="2000"/>
              <a:t>Очищает буфер обмена последовательного порта</a:t>
            </a:r>
          </a:p>
          <a:p>
            <a:endParaRPr lang="en-US" sz="2800" b="1"/>
          </a:p>
          <a:p>
            <a:r>
              <a:rPr lang="ru-RU" sz="2400" b="1"/>
              <a:t>Serial.end()</a:t>
            </a:r>
          </a:p>
          <a:p>
            <a:r>
              <a:rPr lang="ru-RU" sz="2000"/>
              <a:t>Отключает соединение через последовательный порт и освобождает пины RX и TX.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B59238-7418-4491-B585-27BF754980FE}" type="slidenum">
              <a:rPr lang="ru-RU"/>
              <a:pPr>
                <a:defRPr/>
              </a:pPr>
              <a:t>33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A595E20-8CEB-4EFE-8814-BC6F5A1F3F63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33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-180975" y="0"/>
            <a:ext cx="932497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 sz="2800" b="1"/>
              <a:t>Типовой сценарий обмена по последовательному</a:t>
            </a:r>
          </a:p>
          <a:p>
            <a:pPr algn="ctr"/>
            <a:r>
              <a:rPr lang="ru-RU" sz="2800" b="1"/>
              <a:t> порту</a:t>
            </a:r>
            <a:r>
              <a:rPr lang="en-US" sz="2800" b="1"/>
              <a:t> </a:t>
            </a:r>
            <a:r>
              <a:rPr lang="ru-RU" sz="2800" b="1"/>
              <a:t>по </a:t>
            </a:r>
            <a:r>
              <a:rPr lang="en-US" sz="2800" b="1"/>
              <a:t>1</a:t>
            </a:r>
            <a:r>
              <a:rPr lang="ru-RU" sz="2800" b="1"/>
              <a:t> байту, если обмен инициализирует ПК </a:t>
            </a:r>
            <a:endParaRPr lang="ru-RU" sz="2000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923925"/>
            <a:ext cx="9144000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/>
              <a:t>byte bIn</a:t>
            </a:r>
            <a:r>
              <a:rPr lang="ru-RU" sz="2400" b="1"/>
              <a:t>, </a:t>
            </a:r>
            <a:r>
              <a:rPr lang="en-US" sz="2400" b="1"/>
              <a:t>bOut; </a:t>
            </a:r>
            <a:endParaRPr lang="ru-RU" sz="2400" b="1"/>
          </a:p>
          <a:p>
            <a:r>
              <a:rPr lang="en-US" sz="2400" b="1"/>
              <a:t>int k, N;</a:t>
            </a:r>
            <a:r>
              <a:rPr lang="en-US"/>
              <a:t> </a:t>
            </a:r>
            <a:endParaRPr lang="en-US" sz="2400" b="1"/>
          </a:p>
          <a:p>
            <a:endParaRPr lang="en-US" sz="2400" b="1"/>
          </a:p>
          <a:p>
            <a:r>
              <a:rPr lang="en-US" sz="2400" b="1"/>
              <a:t>void setup{</a:t>
            </a:r>
            <a:r>
              <a:rPr lang="ru-RU" sz="2400" b="1"/>
              <a:t>Serial.begin(</a:t>
            </a:r>
            <a:r>
              <a:rPr lang="en-US" sz="2400" b="1"/>
              <a:t>9600</a:t>
            </a:r>
            <a:r>
              <a:rPr lang="ru-RU" sz="2400" b="1"/>
              <a:t>)</a:t>
            </a:r>
            <a:r>
              <a:rPr lang="en-US" sz="2400" b="1"/>
              <a:t>;}</a:t>
            </a:r>
          </a:p>
          <a:p>
            <a:r>
              <a:rPr lang="en-US" sz="2400" b="1"/>
              <a:t>void loop{</a:t>
            </a:r>
            <a:endParaRPr lang="ru-RU" sz="2400" b="1"/>
          </a:p>
          <a:p>
            <a:r>
              <a:rPr lang="en-US" sz="2400" b="1"/>
              <a:t>for k=1 to N {</a:t>
            </a:r>
            <a:r>
              <a:rPr lang="en-US" sz="2400" i="1"/>
              <a:t>//</a:t>
            </a:r>
            <a:r>
              <a:rPr lang="ru-RU" sz="2400"/>
              <a:t>1</a:t>
            </a:r>
            <a:r>
              <a:rPr lang="ru-RU" sz="2400" i="1"/>
              <a:t> Обмениваемся с ПК </a:t>
            </a:r>
            <a:r>
              <a:rPr lang="en-US" sz="2400" i="1"/>
              <a:t>N </a:t>
            </a:r>
            <a:r>
              <a:rPr lang="ru-RU" sz="2400" i="1"/>
              <a:t>байтами</a:t>
            </a:r>
            <a:endParaRPr lang="en-US" sz="2400" i="1"/>
          </a:p>
          <a:p>
            <a:r>
              <a:rPr lang="ru-RU" sz="2400" b="1"/>
              <a:t>while(Serial.available() &lt; 1) {</a:t>
            </a:r>
            <a:r>
              <a:rPr lang="ru-RU" sz="2400"/>
              <a:t>//2 </a:t>
            </a:r>
            <a:r>
              <a:rPr lang="ru-RU" sz="2400" i="1"/>
              <a:t>Ждем пока не придут данные </a:t>
            </a:r>
          </a:p>
          <a:p>
            <a:r>
              <a:rPr lang="ru-RU" sz="2400" b="1"/>
              <a:t>delay(10);    </a:t>
            </a:r>
          </a:p>
          <a:p>
            <a:r>
              <a:rPr lang="en-US" sz="2400" b="1"/>
              <a:t>                 </a:t>
            </a:r>
            <a:r>
              <a:rPr lang="ru-RU" sz="2400" b="1"/>
              <a:t>                               }//</a:t>
            </a:r>
            <a:r>
              <a:rPr lang="ru-RU" sz="2400"/>
              <a:t>2</a:t>
            </a:r>
            <a:endParaRPr lang="en-US" sz="2400"/>
          </a:p>
          <a:p>
            <a:r>
              <a:rPr lang="en-US" sz="2400" b="1"/>
              <a:t>bIn=</a:t>
            </a:r>
            <a:r>
              <a:rPr lang="ru-RU" sz="2400" b="1"/>
              <a:t>Serial.read()</a:t>
            </a:r>
            <a:r>
              <a:rPr lang="en-US" sz="2400" b="1"/>
              <a:t>;</a:t>
            </a:r>
            <a:r>
              <a:rPr lang="en-US" sz="2400" i="1"/>
              <a:t>//</a:t>
            </a:r>
            <a:r>
              <a:rPr lang="ru-RU" sz="2400" i="1"/>
              <a:t>читаем пришедший байт в </a:t>
            </a:r>
            <a:r>
              <a:rPr lang="en-US" sz="2400" b="1"/>
              <a:t>bIn</a:t>
            </a:r>
            <a:endParaRPr lang="en-US" sz="2400" i="1"/>
          </a:p>
          <a:p>
            <a:r>
              <a:rPr lang="ru-RU" sz="2400" b="1"/>
              <a:t>Serial.write(</a:t>
            </a:r>
            <a:r>
              <a:rPr lang="en-US" sz="2400" b="1"/>
              <a:t>bOut);</a:t>
            </a:r>
            <a:r>
              <a:rPr lang="en-US" sz="2400" i="1"/>
              <a:t>//</a:t>
            </a:r>
            <a:r>
              <a:rPr lang="ru-RU" sz="2400" i="1"/>
              <a:t>пишем в ответ пришедший байт</a:t>
            </a:r>
            <a:r>
              <a:rPr lang="ru-RU" sz="2400" b="1"/>
              <a:t> </a:t>
            </a:r>
            <a:r>
              <a:rPr lang="en-US" sz="2400" b="1"/>
              <a:t>bOut</a:t>
            </a:r>
            <a:r>
              <a:rPr lang="ru-RU" sz="2400" b="1"/>
              <a:t> </a:t>
            </a:r>
          </a:p>
          <a:p>
            <a:r>
              <a:rPr lang="en-US" sz="2400"/>
              <a:t>                </a:t>
            </a:r>
            <a:r>
              <a:rPr lang="ru-RU" sz="2400"/>
              <a:t>      </a:t>
            </a:r>
            <a:r>
              <a:rPr lang="en-US" sz="2400"/>
              <a:t>}</a:t>
            </a:r>
            <a:r>
              <a:rPr lang="ru-RU" sz="2400"/>
              <a:t>//1</a:t>
            </a:r>
            <a:endParaRPr lang="en-US" sz="2400"/>
          </a:p>
          <a:p>
            <a:r>
              <a:rPr lang="en-US" sz="2400"/>
              <a:t>}</a:t>
            </a:r>
            <a:endParaRPr lang="ru-RU" sz="2400"/>
          </a:p>
          <a:p>
            <a:r>
              <a:rPr lang="ru-RU" b="1"/>
              <a:t>     </a:t>
            </a:r>
            <a:r>
              <a:rPr lang="ru-RU" sz="2400"/>
              <a:t>В ответ на пришедший байт Ардуино отсылает свой для того, чтобы ПК смог понять, что данные получены. Он их ждет в цикле готовности прихода байта от Ардуины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814AF0-B7B2-463A-970C-6A92E7E54FA8}" type="slidenum">
              <a:rPr lang="ru-RU"/>
              <a:pPr>
                <a:defRPr/>
              </a:pPr>
              <a:t>34</a:t>
            </a:fld>
            <a:endParaRPr lang="ru-RU"/>
          </a:p>
        </p:txBody>
      </p:sp>
      <p:sp>
        <p:nvSpPr>
          <p:cNvPr id="3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8BFA43A-D156-4C74-B5F4-6D9ED7A5023C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34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1203" name="Rectangle 4"/>
          <p:cNvSpPr>
            <a:spLocks/>
          </p:cNvSpPr>
          <p:nvPr/>
        </p:nvSpPr>
        <p:spPr bwMode="auto">
          <a:xfrm>
            <a:off x="611188" y="0"/>
            <a:ext cx="82296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ru-RU" sz="4000" b="1">
                <a:latin typeface="Calibri" pitchFamily="34" charset="0"/>
              </a:rPr>
              <a:t>Библиотека </a:t>
            </a:r>
            <a:r>
              <a:rPr lang="ru-RU" sz="4000" b="1">
                <a:latin typeface="Calibri" pitchFamily="34" charset="0"/>
                <a:hlinkClick r:id="rId2"/>
              </a:rPr>
              <a:t>Servo</a:t>
            </a:r>
            <a:endParaRPr lang="ru-RU" sz="400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2F7E7E-668F-4427-94E1-BF031B1890F9}" type="slidenum">
              <a:rPr lang="ru-RU"/>
              <a:pPr>
                <a:defRPr/>
              </a:pPr>
              <a:t>35</a:t>
            </a:fld>
            <a:endParaRPr lang="ru-RU"/>
          </a:p>
        </p:txBody>
      </p:sp>
      <p:sp>
        <p:nvSpPr>
          <p:cNvPr id="4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C95A504E-A194-4EE0-BD2E-7FF5F4B67863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35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smtClean="0"/>
          </a:p>
        </p:txBody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D417BE-44EB-4340-AD91-1434970B0218}" type="slidenum">
              <a:rPr lang="ru-RU"/>
              <a:pPr>
                <a:defRPr/>
              </a:pPr>
              <a:t>36</a:t>
            </a:fld>
            <a:endParaRPr lang="ru-RU"/>
          </a:p>
        </p:txBody>
      </p:sp>
      <p:sp>
        <p:nvSpPr>
          <p:cNvPr id="4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C845533-9BDE-4E8C-BB6C-721F0134D831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36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smtClean="0"/>
          </a:p>
        </p:txBody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8A20D-FCE8-4AE1-8277-119C93F9E852}" type="slidenum">
              <a:rPr lang="ru-RU"/>
              <a:pPr>
                <a:defRPr/>
              </a:pPr>
              <a:t>37</a:t>
            </a:fld>
            <a:endParaRPr lang="ru-RU"/>
          </a:p>
        </p:txBody>
      </p:sp>
      <p:sp>
        <p:nvSpPr>
          <p:cNvPr id="4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7C69D262-9C2B-4620-ABF7-53EB93539C0D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37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smtClean="0"/>
          </a:p>
        </p:txBody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02AB1D-7326-43E6-8892-7EBCFB83E5B7}" type="slidenum">
              <a:rPr lang="ru-RU"/>
              <a:pPr>
                <a:defRPr/>
              </a:pPr>
              <a:t>38</a:t>
            </a:fld>
            <a:endParaRPr lang="ru-RU"/>
          </a:p>
        </p:txBody>
      </p:sp>
      <p:sp>
        <p:nvSpPr>
          <p:cNvPr id="4" name="Номер слайда 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4E36F000-BDC1-42EE-BDCA-C758C582DE05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38</a:t>
            </a:fld>
            <a:endParaRPr lang="ru-RU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 smtClean="0"/>
          </a:p>
        </p:txBody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2759</Words>
  <Application>Microsoft Office PowerPoint</Application>
  <PresentationFormat>Экран (4:3)</PresentationFormat>
  <Paragraphs>473</Paragraphs>
  <Slides>38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2" baseType="lpstr">
      <vt:lpstr>Arial</vt:lpstr>
      <vt:lpstr>Calibri</vt:lpstr>
      <vt:lpstr>Тема Office</vt:lpstr>
      <vt:lpstr>Image</vt:lpstr>
      <vt:lpstr>ФУНКЦИИ С++ ПРОГРАММИРОВАНИЯ АРДУИНО</vt:lpstr>
      <vt:lpstr>Презентация PowerPoint</vt:lpstr>
      <vt:lpstr>КНОПКИ. СХЕМЫ ПОДКЛЮЧЕНИЯ</vt:lpstr>
      <vt:lpstr>Презентация PowerPoint</vt:lpstr>
      <vt:lpstr>Борьба с дребезгом контактов путем двойного считывания порта с задержкой </vt:lpstr>
      <vt:lpstr>Варианты реакции на нажатие кнопки</vt:lpstr>
      <vt:lpstr>Реализация вариантов нажатия кнопки</vt:lpstr>
      <vt:lpstr>Реализация вариантов нажатия кнопки</vt:lpstr>
      <vt:lpstr>Реализация вариантов нажатия кнопки</vt:lpstr>
      <vt:lpstr>Операторы языка С++</vt:lpstr>
      <vt:lpstr>Тип входа INPUT PULLUP</vt:lpstr>
      <vt:lpstr>Данные</vt:lpstr>
      <vt:lpstr>Область видимости переменной</vt:lpstr>
      <vt:lpstr>СПЕЦИФИКАТОРЫ</vt:lpstr>
      <vt:lpstr>МАТЕМАТИЧЕСКИЕ ВЫЧИСЛЕНИЯ</vt:lpstr>
      <vt:lpstr>Операции над байтами</vt:lpstr>
      <vt:lpstr>Операции над битами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Библиотеки Arduino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MacMini</dc:creator>
  <cp:lastModifiedBy>suhar</cp:lastModifiedBy>
  <cp:revision>69</cp:revision>
  <dcterms:created xsi:type="dcterms:W3CDTF">2020-10-25T08:32:51Z</dcterms:created>
  <dcterms:modified xsi:type="dcterms:W3CDTF">2021-10-17T20:14:00Z</dcterms:modified>
</cp:coreProperties>
</file>