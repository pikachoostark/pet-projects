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4" r:id="rId10"/>
    <p:sldId id="267" r:id="rId11"/>
    <p:sldId id="269" r:id="rId12"/>
    <p:sldId id="270" r:id="rId13"/>
    <p:sldId id="266" r:id="rId14"/>
    <p:sldId id="26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58196-63AF-4B83-AB4D-62A689319F9F}" type="datetimeFigureOut">
              <a:rPr lang="ru-RU" smtClean="0"/>
              <a:t>20.02.2021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4F402-9848-4D0B-9C13-89D7457D28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85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920-A1D5-48C0-B2A0-2A46AF2D1346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76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66E5-9A12-4FFA-A2DC-5354DF8386CC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3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5A1-190B-4EFE-80EA-9DB06C494148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93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8B9C-B122-41DD-BE55-DC311DEE6DE3}" type="datetime1">
              <a:rPr lang="ru-RU" smtClean="0"/>
              <a:t>20.02.2021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04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F28D7-A090-4841-9DA9-CDDDD3934C8C}" type="datetime1">
              <a:rPr lang="ru-RU" smtClean="0"/>
              <a:t>20.02.2021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6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56B32-9836-4FEC-876A-256584E2DBA7}" type="datetime1">
              <a:rPr lang="ru-RU" smtClean="0"/>
              <a:t>20.02.2021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75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54F0D-C561-4285-84FF-86D72E2E9897}" type="datetime1">
              <a:rPr lang="ru-RU" smtClean="0"/>
              <a:t>20.02.2021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03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80A-FA8E-44C4-B5AF-54A1CCB80450}" type="datetime1">
              <a:rPr lang="ru-RU" smtClean="0"/>
              <a:t>20.02.2021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06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19A8-47E5-4D7D-B63F-81F106731CCA}" type="datetime1">
              <a:rPr lang="ru-RU" smtClean="0"/>
              <a:t>20.02.2021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58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0C96-599B-4A7B-B60E-59C54359E057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17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D62F-0FC3-4E05-B3C1-6BD9D26D7E87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66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A2AF-6758-44F0-B844-F98AB9EDED12}" type="datetime1">
              <a:rPr lang="ru-RU" smtClean="0"/>
              <a:t>20.02.2021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BAD49-AEB5-4B21-8928-D2556B6A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00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ПРОГРАММИРОВАНИЕ МИКРОКОНТРОЛЛЕРА АРДУИНО НАНО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87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https://avatars.mds.yandex.net/get-zen_doc/245342/pub_5c0ebe68c8938300a9401668_5c0ecb8c137b3000a98902ec/scale_120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143" y="189781"/>
            <a:ext cx="7228788" cy="64698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0" y="189781"/>
            <a:ext cx="9682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Назначение ног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Arduino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nano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" y="931652"/>
            <a:ext cx="485667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PDi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PBi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PCi</a:t>
            </a:r>
            <a:r>
              <a:rPr lang="en-US" dirty="0" smtClean="0"/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Цифровые входы/выходы</a:t>
            </a:r>
          </a:p>
          <a:p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ADCi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аналоговые входы. Подавать можно не больше напряжения на ножке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AREF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AREF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опорное напряжение надо подать напряжение с ножки 5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V.</a:t>
            </a:r>
          </a:p>
          <a:p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Vin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напряжение питания </a:t>
            </a:r>
            <a:r>
              <a:rPr lang="ru-RU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6-12в,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работает и при 5 в.</a:t>
            </a:r>
          </a:p>
          <a:p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Если на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Vin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подать 5В, то на ножке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5V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будет 4.75В. </a:t>
            </a:r>
          </a:p>
          <a:p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3.3В – вывод питания 3.3В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GND -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земля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45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689" y="0"/>
            <a:ext cx="8751914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3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0" y="94891"/>
            <a:ext cx="398540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RESET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сброс микропроцессора, переход на начало программы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TX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RX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линии передачи(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transmit)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и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приема(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receive)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данных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UART(RS232)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последовательного порта 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INT0, INT1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первое и второе внешние прерывания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SS, SCK, MOSI, MISO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входы, занятые программированием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микропроцессора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SCL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SCA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линии передачи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I2C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PWM –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выходы, на которых можно сформировать ШИМ – широтно-импульсную модуляцию.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9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086" y="13740"/>
            <a:ext cx="8751914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4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98408" y="163901"/>
            <a:ext cx="5753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НУМЕРАЦИЯ НОГ</a:t>
            </a:r>
            <a:endParaRPr lang="en-US" sz="3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 СРЕДЕ РАЗРАБОТКИ</a:t>
            </a:r>
            <a:endParaRPr lang="en-US" sz="3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2208362"/>
            <a:ext cx="458925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D0-D13 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цифровые входы/выходы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А0-А7 – аналоговые.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А0-А5 можно объявить как цифровые входы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выходы</a:t>
            </a: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D14-D19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Аналоговые входы (аналого-цифровые преобразователи) преобразуют сигнал в 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числовой код  от 0 до 1024</a:t>
            </a:r>
          </a:p>
          <a:p>
            <a:endParaRPr lang="ru-RU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49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5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336430"/>
            <a:ext cx="11352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КНОПКИ К НОГЕ 16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4565" y="1742535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905773" y="2976113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364301" y="1963946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398807" y="2507411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398807" y="443972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92105" y="1963946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494362" y="1963946"/>
            <a:ext cx="0" cy="14867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4494362" y="3450695"/>
            <a:ext cx="163901" cy="319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4494362" y="3925018"/>
            <a:ext cx="0" cy="52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3674852" y="4448355"/>
            <a:ext cx="819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6312" y="3219863"/>
            <a:ext cx="59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Кн1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5171534" y="1524361"/>
            <a:ext cx="50507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 программы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pin16In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ru-RU" alt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ru-RU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altLang="ru-R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 smtClean="0"/>
          </a:p>
          <a:p>
            <a:r>
              <a:rPr lang="ru-RU" dirty="0" smtClean="0"/>
              <a:t>………</a:t>
            </a:r>
          </a:p>
          <a:p>
            <a:r>
              <a:rPr lang="ru-RU" altLang="ru-RU" b="1" dirty="0" err="1" smtClean="0">
                <a:latin typeface="Arial Unicode MS"/>
              </a:rPr>
              <a:t>pinMode</a:t>
            </a:r>
            <a:r>
              <a:rPr lang="ru-RU" altLang="ru-RU" b="1" dirty="0" smtClean="0">
                <a:latin typeface="Arial Unicode MS"/>
              </a:rPr>
              <a:t>(</a:t>
            </a:r>
            <a:r>
              <a:rPr lang="en-US" altLang="ru-RU" b="1" dirty="0" smtClean="0">
                <a:latin typeface="Arial Unicode MS"/>
              </a:rPr>
              <a:t>pin16In</a:t>
            </a:r>
            <a:r>
              <a:rPr lang="ru-RU" altLang="ru-RU" b="1" dirty="0" smtClean="0">
                <a:latin typeface="Arial Unicode MS"/>
              </a:rPr>
              <a:t>, </a:t>
            </a:r>
            <a:r>
              <a:rPr lang="en-US" altLang="ru-RU" b="1" dirty="0" smtClean="0">
                <a:latin typeface="Arial Unicode MS"/>
              </a:rPr>
              <a:t>IN</a:t>
            </a:r>
            <a:r>
              <a:rPr lang="ru-RU" altLang="ru-RU" b="1" dirty="0" smtClean="0">
                <a:latin typeface="Arial Unicode MS"/>
              </a:rPr>
              <a:t>TPUT)</a:t>
            </a:r>
            <a:r>
              <a:rPr lang="en-US" altLang="ru-RU" b="1" dirty="0" smtClean="0">
                <a:latin typeface="Arial Unicode MS"/>
              </a:rPr>
              <a:t>;</a:t>
            </a:r>
            <a:r>
              <a:rPr lang="ru-RU" altLang="ru-RU" sz="1400" b="1" dirty="0" smtClean="0"/>
              <a:t> </a:t>
            </a:r>
          </a:p>
          <a:p>
            <a:r>
              <a:rPr lang="ru-RU" alt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(лучше </a:t>
            </a:r>
            <a:r>
              <a:rPr lang="ru-RU" altLang="ru-RU" b="1" dirty="0" err="1" smtClean="0">
                <a:latin typeface="Arial Unicode MS"/>
              </a:rPr>
              <a:t>pinMode</a:t>
            </a:r>
            <a:r>
              <a:rPr lang="ru-RU" altLang="ru-RU" b="1" dirty="0" smtClean="0">
                <a:latin typeface="Arial Unicode MS"/>
              </a:rPr>
              <a:t>(</a:t>
            </a:r>
            <a:r>
              <a:rPr lang="en-US" altLang="ru-RU" b="1" dirty="0">
                <a:latin typeface="Arial Unicode MS"/>
              </a:rPr>
              <a:t>pin16In</a:t>
            </a:r>
            <a:r>
              <a:rPr lang="ru-RU" altLang="ru-RU" b="1" dirty="0">
                <a:latin typeface="Arial Unicode MS"/>
              </a:rPr>
              <a:t>, </a:t>
            </a:r>
            <a:r>
              <a:rPr lang="en-US" b="1" dirty="0"/>
              <a:t>INPUT_PULLUP</a:t>
            </a:r>
            <a:r>
              <a:rPr lang="ru-RU" altLang="ru-RU" dirty="0" smtClean="0">
                <a:latin typeface="Arial Unicode MS"/>
              </a:rPr>
              <a:t>), чтобы гарантированно на ноге 16 при выключенной кнопке было 5В=Логическая 1)</a:t>
            </a:r>
          </a:p>
          <a:p>
            <a:endParaRPr lang="ru-RU" altLang="ru-RU" dirty="0">
              <a:latin typeface="Arial Unicode MS"/>
            </a:endParaRPr>
          </a:p>
          <a:p>
            <a:r>
              <a:rPr lang="ru-RU" altLang="ru-RU" dirty="0" smtClean="0">
                <a:latin typeface="Arial Unicode MS"/>
              </a:rPr>
              <a:t>………………..</a:t>
            </a:r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digitalRead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(pin16In);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(HIGH, LOW) (???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Надо пробовать, т.к. переменная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объявлена как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ru-RU" dirty="0" smtClean="0">
              <a:latin typeface="Arial Unicode MS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55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6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856007" y="375175"/>
            <a:ext cx="526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СВЕТОДИОДОВ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4565" y="1742535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905773" y="2976113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364301" y="1963946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3398807" y="2507411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398807" y="443972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674852" y="1972572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494362" y="1963946"/>
            <a:ext cx="0" cy="736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494362" y="3062377"/>
            <a:ext cx="0" cy="1385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674852" y="4448355"/>
            <a:ext cx="819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4390845" y="3312622"/>
            <a:ext cx="207034" cy="7360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4770408" y="3312622"/>
            <a:ext cx="2078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r>
              <a:rPr lang="ru-RU" dirty="0" smtClean="0"/>
              <a:t>К</a:t>
            </a:r>
          </a:p>
          <a:p>
            <a:r>
              <a:rPr lang="ru-RU" dirty="0" smtClean="0"/>
              <a:t>Ограничивающий резистор</a:t>
            </a:r>
          </a:p>
          <a:p>
            <a:r>
              <a:rPr lang="ru-RU" dirty="0" smtClean="0"/>
              <a:t>Ток= 5В/5К=10мА</a:t>
            </a:r>
            <a:endParaRPr lang="ru-RU" dirty="0"/>
          </a:p>
        </p:txBody>
      </p:sp>
      <p:sp>
        <p:nvSpPr>
          <p:cNvPr id="18" name="Равнобедренный треугольник 17"/>
          <p:cNvSpPr/>
          <p:nvPr/>
        </p:nvSpPr>
        <p:spPr>
          <a:xfrm>
            <a:off x="4313206" y="2700068"/>
            <a:ext cx="362311" cy="36230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4347712" y="2700068"/>
            <a:ext cx="2932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4770408" y="2700068"/>
            <a:ext cx="189781" cy="18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2910" y="2693045"/>
            <a:ext cx="129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Светодиод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6849374" y="1710172"/>
            <a:ext cx="32349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pin16In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b="1" dirty="0" smtClean="0">
                <a:latin typeface="Arial Unicode MS"/>
              </a:rPr>
              <a:t>……………</a:t>
            </a:r>
          </a:p>
          <a:p>
            <a:r>
              <a:rPr lang="ru-RU" altLang="ru-RU" b="1" dirty="0" err="1" smtClean="0">
                <a:latin typeface="Arial Unicode MS"/>
              </a:rPr>
              <a:t>pinMode</a:t>
            </a:r>
            <a:r>
              <a:rPr lang="ru-RU" altLang="ru-RU" b="1" dirty="0" smtClean="0">
                <a:latin typeface="Arial Unicode MS"/>
              </a:rPr>
              <a:t>(</a:t>
            </a:r>
            <a:r>
              <a:rPr lang="en-US" altLang="ru-RU" b="1" dirty="0">
                <a:latin typeface="Arial Unicode MS"/>
              </a:rPr>
              <a:t>pin16In</a:t>
            </a:r>
            <a:r>
              <a:rPr lang="ru-RU" altLang="ru-RU" b="1" dirty="0">
                <a:latin typeface="Arial Unicode MS"/>
              </a:rPr>
              <a:t>, </a:t>
            </a:r>
            <a:r>
              <a:rPr lang="en-US" altLang="ru-RU" b="1" dirty="0" smtClean="0">
                <a:latin typeface="Arial Unicode MS"/>
              </a:rPr>
              <a:t>OUT</a:t>
            </a:r>
            <a:r>
              <a:rPr lang="ru-RU" altLang="ru-RU" b="1" dirty="0" smtClean="0">
                <a:latin typeface="Arial Unicode MS"/>
              </a:rPr>
              <a:t>PUT</a:t>
            </a:r>
            <a:r>
              <a:rPr lang="ru-RU" altLang="ru-RU" b="1" dirty="0">
                <a:latin typeface="Arial Unicode MS"/>
              </a:rPr>
              <a:t>)</a:t>
            </a:r>
            <a:r>
              <a:rPr lang="en-US" altLang="ru-RU" b="1" dirty="0" smtClean="0">
                <a:latin typeface="Arial Unicode MS"/>
              </a:rPr>
              <a:t>;</a:t>
            </a:r>
            <a:endParaRPr lang="ru-RU" altLang="ru-RU" b="1" dirty="0" smtClean="0">
              <a:latin typeface="Arial Unicode MS"/>
            </a:endParaRPr>
          </a:p>
          <a:p>
            <a:r>
              <a:rPr lang="ru-RU" altLang="ru-RU" sz="1400" b="1" dirty="0" smtClean="0">
                <a:latin typeface="Arial Unicode MS"/>
              </a:rPr>
              <a:t>……………….</a:t>
            </a:r>
            <a:r>
              <a:rPr lang="ru-RU" altLang="ru-RU" sz="1400" b="1" dirty="0" smtClean="0"/>
              <a:t> </a:t>
            </a:r>
            <a:endParaRPr lang="en-US" altLang="ru-RU" sz="1400" b="1" dirty="0" smtClean="0"/>
          </a:p>
          <a:p>
            <a:endParaRPr lang="ru-RU" altLang="ru-RU" sz="1400" b="1" dirty="0"/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digitalRead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(pin16In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84607" y="4727366"/>
            <a:ext cx="352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Всегда ставить ограничивающий резистор на выход </a:t>
            </a:r>
            <a:r>
              <a:rPr lang="ru-RU" b="1" dirty="0" err="1" smtClean="0"/>
              <a:t>Ардуины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6160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7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017916" y="172528"/>
            <a:ext cx="10118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ПОТЕНЦИОМЕТРА (ПЕРЕМЕННОГО РЕЗИСТОРА)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4565" y="1742535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905773" y="2976113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364301" y="1963946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3398807" y="2507411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398807" y="443972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60853" y="1838870"/>
            <a:ext cx="368347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pin16analogIn;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b="1" dirty="0" smtClean="0">
                <a:latin typeface="Arial Unicode MS"/>
              </a:rPr>
              <a:t>……………</a:t>
            </a:r>
          </a:p>
          <a:p>
            <a:endParaRPr lang="ru-RU" altLang="ru-RU" sz="1400" b="1" dirty="0"/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analogRead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(pin16analogIn);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097547" y="2406770"/>
            <a:ext cx="741872" cy="2070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657599" y="1972572"/>
            <a:ext cx="1552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5218981" y="1972572"/>
            <a:ext cx="0" cy="543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20" idx="3"/>
          </p:cNvCxnSpPr>
          <p:nvPr/>
        </p:nvCxnSpPr>
        <p:spPr>
          <a:xfrm flipV="1">
            <a:off x="4839419" y="2507411"/>
            <a:ext cx="379562" cy="2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endCxn id="20" idx="1"/>
          </p:cNvCxnSpPr>
          <p:nvPr/>
        </p:nvCxnSpPr>
        <p:spPr>
          <a:xfrm>
            <a:off x="3692105" y="2507411"/>
            <a:ext cx="405442" cy="2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20" idx="2"/>
          </p:cNvCxnSpPr>
          <p:nvPr/>
        </p:nvCxnSpPr>
        <p:spPr>
          <a:xfrm>
            <a:off x="4468483" y="2613804"/>
            <a:ext cx="17253" cy="182592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3692105" y="4439729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96951" y="3274236"/>
            <a:ext cx="3329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Подключать потенциометр к 5В можно к любому источнику питания. Землю источника питания и землю </a:t>
            </a:r>
            <a:r>
              <a:rPr lang="ru-RU" b="1" dirty="0" err="1" smtClean="0"/>
              <a:t>Ардуино</a:t>
            </a:r>
            <a:r>
              <a:rPr lang="ru-RU" b="1" dirty="0" smtClean="0"/>
              <a:t> надо соединить.</a:t>
            </a:r>
          </a:p>
          <a:p>
            <a:r>
              <a:rPr lang="ru-RU" b="1" dirty="0" smtClean="0"/>
              <a:t>Вопрос. Как изменятся показания, если потенциометр </a:t>
            </a:r>
          </a:p>
          <a:p>
            <a:r>
              <a:rPr lang="ru-RU" b="1" dirty="0" smtClean="0"/>
              <a:t>подключить к </a:t>
            </a:r>
            <a:r>
              <a:rPr lang="en-US" b="1" dirty="0" smtClean="0"/>
              <a:t>Vin?</a:t>
            </a:r>
            <a:r>
              <a:rPr lang="ru-RU" b="1" dirty="0" smtClean="0"/>
              <a:t>   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78842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https://robotclass.ru/wp-content/uploads/2016/09/relay_sh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1" y="0"/>
            <a:ext cx="3668024" cy="2855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Рисунок 2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2" t="26226" r="58471" b="44982"/>
          <a:stretch/>
        </p:blipFill>
        <p:spPr bwMode="auto">
          <a:xfrm>
            <a:off x="187193" y="3480737"/>
            <a:ext cx="4395588" cy="26018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8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232279" y="129069"/>
            <a:ext cx="928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МОДУЛЯ РЕЛЕ С ОПТРОНОМ НА ВХОДЕ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93100" y="3096881"/>
            <a:ext cx="223424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	Vin    </a:t>
            </a:r>
          </a:p>
          <a:p>
            <a:pPr algn="r"/>
            <a:r>
              <a:rPr lang="en-US" dirty="0" smtClean="0"/>
              <a:t>                         GND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r>
              <a:rPr lang="en-US" dirty="0" smtClean="0"/>
              <a:t>   </a:t>
            </a:r>
          </a:p>
          <a:p>
            <a:r>
              <a:rPr lang="en-US" dirty="0" smtClean="0"/>
              <a:t>6 </a:t>
            </a:r>
            <a:endParaRPr lang="en-US" dirty="0"/>
          </a:p>
          <a:p>
            <a:pPr algn="r"/>
            <a:endParaRPr lang="ru-RU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7392836" y="3318292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410089" y="4103296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4904113" y="4094376"/>
            <a:ext cx="293298" cy="8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 flipV="1">
            <a:off x="4261451" y="4899805"/>
            <a:ext cx="642662" cy="8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7410089" y="3590024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1" y="6114816"/>
            <a:ext cx="11524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Подключать </a:t>
            </a:r>
            <a:r>
              <a:rPr lang="ru-RU" sz="2400" b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sz="2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можно только к реле с оптронной развязкой</a:t>
            </a:r>
            <a:endParaRPr lang="ru-RU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V="1">
            <a:off x="4261451" y="3326920"/>
            <a:ext cx="3424683" cy="180128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960187" y="779786"/>
            <a:ext cx="72167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Программа управление реле от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такая же, как и программа управления светодиодом: </a:t>
            </a:r>
          </a:p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Если подать 1 на выход цифровой 6, то реле сработает.</a:t>
            </a:r>
          </a:p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Если  подать 0, то реле отключится </a:t>
            </a:r>
          </a:p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 модуле реле часто бывает светодиод, который включается при включении реле.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356340" y="4606506"/>
            <a:ext cx="8367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4904113" y="4094376"/>
            <a:ext cx="0" cy="814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2257" y="5736348"/>
            <a:ext cx="143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Оптрон</a:t>
            </a:r>
            <a:endParaRPr lang="ru-RU" b="1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>
            <a:off x="1716657" y="5921014"/>
            <a:ext cx="2967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flipV="1">
            <a:off x="2013370" y="5128206"/>
            <a:ext cx="227125" cy="79280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/>
          <p:cNvSpPr/>
          <p:nvPr/>
        </p:nvSpPr>
        <p:spPr>
          <a:xfrm>
            <a:off x="2240495" y="5382883"/>
            <a:ext cx="2190246" cy="395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74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9</a:t>
            </a:fld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8144" y="155121"/>
            <a:ext cx="6760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СИЛОВОЙ НАГРУЗКИ, </a:t>
            </a:r>
          </a:p>
          <a:p>
            <a:pPr algn="ctr"/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НАПРИМЕР, МОТОРА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2217" y="1708028"/>
            <a:ext cx="223424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r>
              <a:rPr lang="en-US" dirty="0" smtClean="0"/>
              <a:t>   </a:t>
            </a:r>
          </a:p>
          <a:p>
            <a:r>
              <a:rPr lang="en-US" dirty="0" smtClean="0"/>
              <a:t>5</a:t>
            </a:r>
          </a:p>
          <a:p>
            <a:r>
              <a:rPr lang="en-US" dirty="0"/>
              <a:t>6</a:t>
            </a:r>
            <a:r>
              <a:rPr lang="en-US" dirty="0" smtClean="0"/>
              <a:t> </a:t>
            </a:r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4123425" y="353682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581953" y="192943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616459" y="2472904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6616459" y="4405222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123424" y="380999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080291" y="2436961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77212" y="4218317"/>
            <a:ext cx="4718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Нельзя одновременно подавать 1 на входы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In1 </a:t>
            </a:r>
            <a:r>
              <a:rPr lang="ru-RU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In2</a:t>
            </a:r>
            <a:r>
              <a:rPr lang="ru-RU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, а также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ru-RU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ru-RU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4   </a:t>
            </a:r>
            <a:endParaRPr lang="ru-RU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44" y="1971966"/>
            <a:ext cx="3693319" cy="3693319"/>
          </a:xfrm>
          <a:prstGeom prst="rect">
            <a:avLst/>
          </a:prstGeom>
        </p:spPr>
      </p:pic>
      <p:cxnSp>
        <p:nvCxnSpPr>
          <p:cNvPr id="18" name="Прямая соединительная линия 17"/>
          <p:cNvCxnSpPr/>
          <p:nvPr/>
        </p:nvCxnSpPr>
        <p:spPr>
          <a:xfrm>
            <a:off x="3062377" y="3536830"/>
            <a:ext cx="1069902" cy="273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019245" y="3381555"/>
            <a:ext cx="1113034" cy="1552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212" y="175716"/>
            <a:ext cx="4847486" cy="3064624"/>
          </a:xfrm>
          <a:prstGeom prst="rect">
            <a:avLst/>
          </a:prstGeom>
        </p:spPr>
      </p:pic>
      <p:cxnSp>
        <p:nvCxnSpPr>
          <p:cNvPr id="25" name="Прямая соединительная линия 24"/>
          <p:cNvCxnSpPr/>
          <p:nvPr/>
        </p:nvCxnSpPr>
        <p:spPr>
          <a:xfrm flipH="1">
            <a:off x="3062377" y="2445587"/>
            <a:ext cx="1017914" cy="17727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77437" y="4977442"/>
            <a:ext cx="4914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Выходы, по которым можно управлять с помощью ШИМ см. в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распиновке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Без ШИМ двигателем можно управлять по любым цифровым каналам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77212" y="3459192"/>
            <a:ext cx="4847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Выходы </a:t>
            </a:r>
            <a:r>
              <a:rPr lang="ru-RU" dirty="0" err="1" smtClean="0"/>
              <a:t>Ардуино</a:t>
            </a:r>
            <a:r>
              <a:rPr lang="ru-RU" dirty="0" smtClean="0"/>
              <a:t> подключаем ко входам</a:t>
            </a:r>
            <a:endParaRPr lang="en-US" dirty="0" smtClean="0"/>
          </a:p>
          <a:p>
            <a:r>
              <a:rPr lang="en-US" dirty="0" smtClean="0"/>
              <a:t>In1 </a:t>
            </a:r>
            <a:r>
              <a:rPr lang="ru-RU" dirty="0" smtClean="0"/>
              <a:t>и</a:t>
            </a:r>
            <a:r>
              <a:rPr lang="en-US" dirty="0" smtClean="0"/>
              <a:t> In2</a:t>
            </a:r>
            <a:r>
              <a:rPr lang="ru-RU" dirty="0" smtClean="0"/>
              <a:t>, или </a:t>
            </a:r>
            <a:r>
              <a:rPr lang="en-US" dirty="0" smtClean="0"/>
              <a:t>In3 </a:t>
            </a:r>
            <a:r>
              <a:rPr lang="ru-RU" dirty="0" smtClean="0"/>
              <a:t>и </a:t>
            </a:r>
            <a:r>
              <a:rPr lang="en-US" dirty="0" smtClean="0"/>
              <a:t>in4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28143" y="1268083"/>
            <a:ext cx="434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Такой модуль имеет два выхода для управления двумя моторами или двумя обмотками шагового двигателя</a:t>
            </a:r>
            <a:endParaRPr lang="ru-RU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V="1">
            <a:off x="3062377" y="4485736"/>
            <a:ext cx="659087" cy="8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721464" y="4494362"/>
            <a:ext cx="0" cy="906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1066" y="5401347"/>
            <a:ext cx="32090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Питание двигателей до 36 В</a:t>
            </a:r>
            <a:endParaRPr lang="ru-RU" dirty="0"/>
          </a:p>
        </p:txBody>
      </p:sp>
      <p:cxnSp>
        <p:nvCxnSpPr>
          <p:cNvPr id="49" name="Прямая соединительная линия 48"/>
          <p:cNvCxnSpPr/>
          <p:nvPr/>
        </p:nvCxnSpPr>
        <p:spPr>
          <a:xfrm>
            <a:off x="3062377" y="4218317"/>
            <a:ext cx="10179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4080291" y="4218317"/>
            <a:ext cx="0" cy="19594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80291" y="5846258"/>
            <a:ext cx="23463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Земля питания двигателей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1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/>
          <p:nvPr/>
        </p:nvPicPr>
        <p:blipFill rotWithShape="1">
          <a:blip r:embed="rId2"/>
          <a:srcRect l="17638" t="31357" r="64083" b="40707"/>
          <a:stretch/>
        </p:blipFill>
        <p:spPr bwMode="auto">
          <a:xfrm rot="16200000">
            <a:off x="6585529" y="2770918"/>
            <a:ext cx="2705833" cy="2631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Рисунок 2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3" t="17388" r="59914" b="50970"/>
          <a:stretch/>
        </p:blipFill>
        <p:spPr bwMode="auto">
          <a:xfrm>
            <a:off x="5749420" y="12557"/>
            <a:ext cx="4050187" cy="25503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10</a:t>
            </a:fld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2077" y="752114"/>
            <a:ext cx="53828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Подключение силовых ключей без оптронной развязки приводит к тому, что возникает колебательный контур, состоящий из катушки ротора мотора и емкости затвора полевого транзистора. Эти колебания попадают через  </a:t>
            </a:r>
            <a:r>
              <a:rPr lang="ru-RU" dirty="0" err="1" smtClean="0"/>
              <a:t>Ардуино</a:t>
            </a:r>
            <a:r>
              <a:rPr lang="ru-RU" dirty="0" smtClean="0"/>
              <a:t> на вход цифрового датчика положения и воспринимаются как импульсы датчика.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593321" y="2293681"/>
            <a:ext cx="223424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r>
              <a:rPr lang="en-US" dirty="0" smtClean="0"/>
              <a:t>   </a:t>
            </a:r>
          </a:p>
          <a:p>
            <a:r>
              <a:rPr lang="en-US" dirty="0" smtClean="0"/>
              <a:t>5</a:t>
            </a:r>
          </a:p>
          <a:p>
            <a:r>
              <a:rPr lang="en-US" dirty="0"/>
              <a:t>6</a:t>
            </a:r>
            <a:r>
              <a:rPr lang="en-US" dirty="0" smtClean="0"/>
              <a:t> </a:t>
            </a:r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9308648" y="3016635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8944288" y="4148966"/>
            <a:ext cx="631779" cy="14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8950569" y="4394370"/>
            <a:ext cx="651377" cy="105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0" y="2733676"/>
            <a:ext cx="3693319" cy="369331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3133438" y="4307167"/>
            <a:ext cx="3650188" cy="3488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090306" y="4151892"/>
            <a:ext cx="3710574" cy="3297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3133438" y="5256073"/>
            <a:ext cx="659087" cy="8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92525" y="5264699"/>
            <a:ext cx="0" cy="906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2127" y="6171684"/>
            <a:ext cx="32090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Питание двигателей до </a:t>
            </a:r>
            <a:r>
              <a:rPr lang="en-US" dirty="0" smtClean="0"/>
              <a:t>24!!!</a:t>
            </a:r>
            <a:r>
              <a:rPr lang="ru-RU" dirty="0" smtClean="0"/>
              <a:t> В</a:t>
            </a:r>
            <a:endParaRPr lang="ru-RU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133438" y="4988654"/>
            <a:ext cx="10179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151352" y="4988654"/>
            <a:ext cx="0" cy="13676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02077" y="116074"/>
            <a:ext cx="4840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ПОДКЛЮЧЕНИЕ СИЛОВОЙ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НАГРУЗКИ С </a:t>
            </a:r>
          </a:p>
          <a:p>
            <a:pPr algn="ctr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ПОМОЩЬЮ ОПТРОННОЙ РАЗВЯЗКИ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76949" y="190927"/>
            <a:ext cx="2380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Подключение нагрузки с помощью модуля оптронной развязки (вид с обратной стороны)</a:t>
            </a:r>
            <a:endParaRPr lang="ru-RU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9307603" y="3016635"/>
            <a:ext cx="1045" cy="5582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8957293" y="3574867"/>
            <a:ext cx="355988" cy="52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42725" y="6163511"/>
            <a:ext cx="23463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Земля питания двигателей</a:t>
            </a:r>
            <a:endParaRPr lang="ru-RU" dirty="0"/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 flipH="1">
            <a:off x="4159979" y="4967180"/>
            <a:ext cx="1130399" cy="203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>
            <a:off x="5281750" y="3622431"/>
            <a:ext cx="3" cy="13610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5290376" y="3622431"/>
            <a:ext cx="14725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3792525" y="5256073"/>
            <a:ext cx="2234120" cy="8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H="1">
            <a:off x="6013456" y="3828728"/>
            <a:ext cx="701111" cy="162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 flipV="1">
            <a:off x="6013456" y="3822075"/>
            <a:ext cx="8793" cy="14545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484960" y="3060438"/>
            <a:ext cx="1012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Gnd</a:t>
            </a:r>
            <a:endParaRPr lang="ru-RU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6035174" y="5275254"/>
            <a:ext cx="18903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Питание модуля оптронов 5-24в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215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5224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УПРАВЛЕНИЕ НАПРАВЛЕНИЕМ ВРАЩЕНИЯ ДВИГАТЕЛЯ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812165"/>
            <a:ext cx="655906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In1, In2;</a:t>
            </a:r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=5,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=6; 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OUTPUT);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In1=0;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=0;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In1);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 In2);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delay(1000);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мотор стоит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In1=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 In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=0;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In1);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In2);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delay(1000);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мотор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вращается «влево»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In1=0;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In2=0;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In1);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In2);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delay(1000);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мотор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останавливается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In1=0;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In2=1;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In1);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In2); 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delay(1000);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мотор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вращается «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вправо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In1=0;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In2=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In1);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In2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delay(1000);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мотор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останавливается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0" y="325315"/>
            <a:ext cx="4976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 такой форме записи команд всегда ясно, как должен двигаться мотор.</a:t>
            </a: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Легче исключить ситуации, когда на выход поданы две 1. </a:t>
            </a: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Целесообразно общую часть сделать подпрограммой.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59062" y="2415396"/>
            <a:ext cx="56329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void Move(char c, word d, l, r); 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If c=‘S’{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(l,0);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(r,0); delay(d);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=‘L’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’{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(l,1);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(r,0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);delay(d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=‘R’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’{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(l,0);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(r,1);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delay(d);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return;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обращение к функции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Move(‘S’,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ileft,iright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);//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стоп 1 с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Move(‘L’,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ileft,iright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);//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вращается налево 1 с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47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286000" y="189781"/>
            <a:ext cx="7573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УПРАВЛЕНИЕ ДВИГАТЕЛЕМ С ПОМОЩЬЮ ШИМ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443841"/>
            <a:ext cx="74877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void Move(char c,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byte b,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l, r);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c=‘S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’{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analogWrite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(l,0);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(r,0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c=‘L’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b);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(r,0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c=‘R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’’{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(l,0);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r,b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return;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обращение к функции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Byte 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bPWM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bPWM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=127;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(‘S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bPWM,ileft,iright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);//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стоп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Move(‘L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bPWM,ileft,iright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);//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вращается налево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шимом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bPWM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(‘R’,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bPWM,ileft,iright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);//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вращается направо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шимом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bPWM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8428007" y="3157268"/>
            <a:ext cx="2268747" cy="8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8428007" y="1630392"/>
            <a:ext cx="0" cy="1526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8428007" y="2277374"/>
            <a:ext cx="182593" cy="87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8882331" y="2286000"/>
            <a:ext cx="182593" cy="87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9368287" y="2277374"/>
            <a:ext cx="182593" cy="87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844176" y="2294627"/>
            <a:ext cx="182593" cy="87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8972188" y="3303917"/>
            <a:ext cx="222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Период Т=256 импульсов таймера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8882331" y="3312543"/>
            <a:ext cx="454324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8882331" y="2113472"/>
            <a:ext cx="182593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3332" y="1522714"/>
            <a:ext cx="90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bPWM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8930496" y="2277374"/>
            <a:ext cx="0" cy="879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8988005" y="2291752"/>
            <a:ext cx="0" cy="879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9039764" y="2283125"/>
            <a:ext cx="0" cy="879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50444" y="3936831"/>
            <a:ext cx="3878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bPWM</a:t>
            </a:r>
            <a:r>
              <a:rPr lang="en-US" dirty="0" smtClean="0"/>
              <a:t> – </a:t>
            </a:r>
            <a:r>
              <a:rPr lang="ru-RU" dirty="0" smtClean="0"/>
              <a:t>число импульсов, которые должен отсчитать таймер, прежде чем на выходе будет подан 0.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8089781" y="2934585"/>
            <a:ext cx="48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8075762" y="2117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388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223389"/>
            <a:ext cx="12192000" cy="6132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поочередно зажигает то один, то другой светодиод. Нарисовать схему подключения светодиодов.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Светодиод мигает столько </a:t>
            </a:r>
            <a:r>
              <a:rPr lang="ru-RU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</a:t>
            </a:r>
            <a:r>
              <a:rPr lang="en-US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16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сколько 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нажимают кнопку. Нарисовать схему подключения 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Подключить две кнопки и два светодиода, каждый из которых загорается, когда включена соответствующая кнопка.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подключен переключатель, который в одном положении подключает одну из ножек к 5 вольтам, в другом положении – к земле. При подключении к 5 вольтам светодиод зажигается, при подключении к земле – гаснет. Нарисовать схему включения.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Если переменный резистор повернули влево (сопротивление стало больше), то горит один светодиод, если повернули вправо, то горит другой светодиод. Нарисовать схему подключения.  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Среднюю точку делителя напряжения подключают 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Если напряжение больше 2,5 вольт, то загорается светодиод. Нарисовать схему подключения.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Среднюю точку делителя напряжения подключают 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Подключают переменный резистор. Если напряжение на переменном резисторе равно напряжению на делителе напряжения, то загорается светодиод. 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Включить лампочку, от реле, управляемого от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При нажатии одной кнопки мотор вращается влево, при нажатии другой – вправо. Нарисовать схему подключения кнопок и мотора 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Если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поворачивает мотор влево, то горит один светодиод, если вправо – то другой. Нарисовать схему подключения светодиодов и мотора.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Если переменный резистор повернули влево (сопротивление стало больше), то двигатель вращается влево, если повернули вправо, то двигатель вращается вправо. Нарисовать схему подключения.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Переключатель имеет один 3 выхода, которые подключены к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и один вход. вход  заземлен. В 1-ом положении переключателя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вращает мотор вправо, в среднем останавливает мотор, в 3-ем положении переключателя </a:t>
            </a:r>
            <a:r>
              <a:rPr lang="ru-RU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Ардуино</a:t>
            </a:r>
            <a:r>
              <a:rPr lang="ru-RU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вращает мотор влево. Нарисовать схему.</a:t>
            </a:r>
            <a:endParaRPr lang="ru-RU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74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BAD49-AEB5-4B21-8928-D2556B6ABAC0}" type="slidenum">
              <a:rPr lang="ru-RU" smtClean="0"/>
              <a:t>14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095554" y="120770"/>
            <a:ext cx="9704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ЦИФРОВОГО ДАТЧИКА ПОЛОЖЕНИЯ С ДВУМЯ ВХОДАМИ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534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1213</Words>
  <Application>Microsoft Office PowerPoint</Application>
  <PresentationFormat>Широкоэкранный</PresentationFormat>
  <Paragraphs>233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Тема Office</vt:lpstr>
      <vt:lpstr>ПРОГРАММИРОВАНИЕ МИКРОКОНТРОЛЛЕРА АРДУИНО НАНО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suhar</dc:creator>
  <cp:lastModifiedBy>suhar</cp:lastModifiedBy>
  <cp:revision>64</cp:revision>
  <dcterms:created xsi:type="dcterms:W3CDTF">2021-02-14T18:41:13Z</dcterms:created>
  <dcterms:modified xsi:type="dcterms:W3CDTF">2021-02-20T15:22:35Z</dcterms:modified>
</cp:coreProperties>
</file>